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elegraf Bold" charset="1" panose="00000800000000000000"/>
      <p:regular r:id="rId17"/>
    </p:embeddedFont>
    <p:embeddedFont>
      <p:font typeface="Open Sauce" charset="1" panose="00000500000000000000"/>
      <p:regular r:id="rId18"/>
    </p:embeddedFont>
    <p:embeddedFont>
      <p:font typeface="Open Sauce Bold Italics" charset="1" panose="00000800000000000000"/>
      <p:regular r:id="rId19"/>
    </p:embeddedFont>
    <p:embeddedFont>
      <p:font typeface="Open Sauce Bold" charset="1" panose="00000800000000000000"/>
      <p:regular r:id="rId20"/>
    </p:embeddedFont>
    <p:embeddedFont>
      <p:font typeface="Open Sauce Italics" charset="1" panose="00000500000000000000"/>
      <p:regular r:id="rId21"/>
    </p:embeddedFont>
    <p:embeddedFont>
      <p:font typeface="Arimo Bold" charset="1" panose="020B070402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523" r="-3068" b="-1055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17713" y="2526739"/>
            <a:ext cx="12868611" cy="5973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59"/>
              </a:lnSpc>
            </a:pPr>
            <a:r>
              <a:rPr lang="en-US" b="true" sz="14306" spc="-887">
                <a:solidFill>
                  <a:srgbClr val="FF3131"/>
                </a:solidFill>
                <a:latin typeface="Telegraf Bold"/>
                <a:ea typeface="Telegraf Bold"/>
                <a:cs typeface="Telegraf Bold"/>
                <a:sym typeface="Telegraf Bold"/>
              </a:rPr>
              <a:t>HEART</a:t>
            </a:r>
          </a:p>
          <a:p>
            <a:pPr algn="ctr">
              <a:lnSpc>
                <a:spcPts val="11159"/>
              </a:lnSpc>
            </a:pPr>
            <a:r>
              <a:rPr lang="en-US" b="true" sz="14306" spc="-887">
                <a:solidFill>
                  <a:srgbClr val="FF3131"/>
                </a:solidFill>
                <a:latin typeface="Telegraf Bold"/>
                <a:ea typeface="Telegraf Bold"/>
                <a:cs typeface="Telegraf Bold"/>
                <a:sym typeface="Telegraf Bold"/>
              </a:rPr>
              <a:t>DISEASE               PREDICTION </a:t>
            </a:r>
          </a:p>
          <a:p>
            <a:pPr algn="ctr">
              <a:lnSpc>
                <a:spcPts val="11159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5400000">
            <a:off x="6845508" y="-7210047"/>
            <a:ext cx="4596985" cy="18998030"/>
            <a:chOff x="0" y="0"/>
            <a:chExt cx="1210728" cy="50035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0729" cy="5003596"/>
            </a:xfrm>
            <a:custGeom>
              <a:avLst/>
              <a:gdLst/>
              <a:ahLst/>
              <a:cxnLst/>
              <a:rect r="r" b="b" t="t" l="l"/>
              <a:pathLst>
                <a:path h="5003596" w="1210729">
                  <a:moveTo>
                    <a:pt x="0" y="0"/>
                  </a:moveTo>
                  <a:lnTo>
                    <a:pt x="1210729" y="0"/>
                  </a:lnTo>
                  <a:lnTo>
                    <a:pt x="1210729" y="5003596"/>
                  </a:lnTo>
                  <a:lnTo>
                    <a:pt x="0" y="5003596"/>
                  </a:lnTo>
                  <a:close/>
                </a:path>
              </a:pathLst>
            </a:custGeom>
            <a:gradFill rotWithShape="true">
              <a:gsLst>
                <a:gs pos="0">
                  <a:srgbClr val="320C0D">
                    <a:alpha val="100000"/>
                  </a:srgbClr>
                </a:gs>
                <a:gs pos="100000">
                  <a:srgbClr val="320C0D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210728" cy="50321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44698" y="1725799"/>
            <a:ext cx="7692786" cy="6745152"/>
            <a:chOff x="0" y="0"/>
            <a:chExt cx="1258286" cy="11032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8286" cy="1103285"/>
            </a:xfrm>
            <a:custGeom>
              <a:avLst/>
              <a:gdLst/>
              <a:ahLst/>
              <a:cxnLst/>
              <a:rect r="r" b="b" t="t" l="l"/>
              <a:pathLst>
                <a:path h="1103285" w="1258286">
                  <a:moveTo>
                    <a:pt x="25160" y="0"/>
                  </a:moveTo>
                  <a:lnTo>
                    <a:pt x="1233127" y="0"/>
                  </a:lnTo>
                  <a:cubicBezTo>
                    <a:pt x="1239800" y="0"/>
                    <a:pt x="1246199" y="2651"/>
                    <a:pt x="1250917" y="7369"/>
                  </a:cubicBezTo>
                  <a:cubicBezTo>
                    <a:pt x="1255636" y="12087"/>
                    <a:pt x="1258286" y="18487"/>
                    <a:pt x="1258286" y="25160"/>
                  </a:cubicBezTo>
                  <a:lnTo>
                    <a:pt x="1258286" y="1078125"/>
                  </a:lnTo>
                  <a:cubicBezTo>
                    <a:pt x="1258286" y="1092020"/>
                    <a:pt x="1247022" y="1103285"/>
                    <a:pt x="1233127" y="1103285"/>
                  </a:cubicBezTo>
                  <a:lnTo>
                    <a:pt x="25160" y="1103285"/>
                  </a:lnTo>
                  <a:cubicBezTo>
                    <a:pt x="18487" y="1103285"/>
                    <a:pt x="12087" y="1100634"/>
                    <a:pt x="7369" y="1095916"/>
                  </a:cubicBezTo>
                  <a:cubicBezTo>
                    <a:pt x="2651" y="1091197"/>
                    <a:pt x="0" y="1084798"/>
                    <a:pt x="0" y="1078125"/>
                  </a:cubicBezTo>
                  <a:lnTo>
                    <a:pt x="0" y="25160"/>
                  </a:lnTo>
                  <a:cubicBezTo>
                    <a:pt x="0" y="18487"/>
                    <a:pt x="2651" y="12087"/>
                    <a:pt x="7369" y="7369"/>
                  </a:cubicBezTo>
                  <a:cubicBezTo>
                    <a:pt x="12087" y="2651"/>
                    <a:pt x="18487" y="0"/>
                    <a:pt x="25160" y="0"/>
                  </a:cubicBezTo>
                  <a:close/>
                </a:path>
              </a:pathLst>
            </a:custGeom>
            <a:blipFill>
              <a:blip r:embed="rId2"/>
              <a:stretch>
                <a:fillRect l="-1296" t="0" r="-1296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61403" y="481691"/>
            <a:ext cx="5322342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b="true" sz="4699" spc="-93">
                <a:solidFill>
                  <a:srgbClr val="FF3131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PROJECT OVERVIEW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9335" y="2432387"/>
            <a:ext cx="9114665" cy="5703616"/>
            <a:chOff x="0" y="0"/>
            <a:chExt cx="2400570" cy="15021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00570" cy="1502187"/>
            </a:xfrm>
            <a:custGeom>
              <a:avLst/>
              <a:gdLst/>
              <a:ahLst/>
              <a:cxnLst/>
              <a:rect r="r" b="b" t="t" l="l"/>
              <a:pathLst>
                <a:path h="1502187" w="2400570">
                  <a:moveTo>
                    <a:pt x="21235" y="0"/>
                  </a:moveTo>
                  <a:lnTo>
                    <a:pt x="2379335" y="0"/>
                  </a:lnTo>
                  <a:cubicBezTo>
                    <a:pt x="2391063" y="0"/>
                    <a:pt x="2400570" y="9507"/>
                    <a:pt x="2400570" y="21235"/>
                  </a:cubicBezTo>
                  <a:lnTo>
                    <a:pt x="2400570" y="1480952"/>
                  </a:lnTo>
                  <a:cubicBezTo>
                    <a:pt x="2400570" y="1492680"/>
                    <a:pt x="2391063" y="1502187"/>
                    <a:pt x="2379335" y="1502187"/>
                  </a:cubicBezTo>
                  <a:lnTo>
                    <a:pt x="21235" y="1502187"/>
                  </a:lnTo>
                  <a:cubicBezTo>
                    <a:pt x="9507" y="1502187"/>
                    <a:pt x="0" y="1492680"/>
                    <a:pt x="0" y="1480952"/>
                  </a:cubicBezTo>
                  <a:lnTo>
                    <a:pt x="0" y="21235"/>
                  </a:lnTo>
                  <a:cubicBezTo>
                    <a:pt x="0" y="9507"/>
                    <a:pt x="9507" y="0"/>
                    <a:pt x="21235" y="0"/>
                  </a:cubicBezTo>
                  <a:close/>
                </a:path>
              </a:pathLst>
            </a:custGeom>
            <a:solidFill>
              <a:srgbClr val="FF3131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400570" cy="1530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49141" y="3226795"/>
            <a:ext cx="3606157" cy="3743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8"/>
              </a:lnSpc>
            </a:pPr>
            <a:r>
              <a:rPr lang="en-US" sz="2273" spc="-45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Primary Objective:</a:t>
            </a:r>
          </a:p>
          <a:p>
            <a:pPr algn="l" marL="490839" indent="-245420" lvl="1">
              <a:lnSpc>
                <a:spcPts val="2728"/>
              </a:lnSpc>
              <a:buFont typeface="Arial"/>
              <a:buChar char="•"/>
            </a:pPr>
            <a:r>
              <a:rPr lang="en-US" sz="2273" spc="-45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To predict the presence (1) or absence (0) of heart disease.</a:t>
            </a:r>
          </a:p>
          <a:p>
            <a:pPr algn="l">
              <a:lnSpc>
                <a:spcPts val="2728"/>
              </a:lnSpc>
            </a:pPr>
            <a:r>
              <a:rPr lang="en-US" sz="2273" spc="-45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Dataset:</a:t>
            </a:r>
          </a:p>
          <a:p>
            <a:pPr algn="l" marL="490839" indent="-245420" lvl="1">
              <a:lnSpc>
                <a:spcPts val="2728"/>
              </a:lnSpc>
              <a:buFont typeface="Arial"/>
              <a:buChar char="•"/>
            </a:pPr>
            <a:r>
              <a:rPr lang="en-US" sz="2273" spc="-45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Source: Cleveland Heart Disease (UCI)</a:t>
            </a:r>
          </a:p>
          <a:p>
            <a:pPr algn="l" marL="490839" indent="-245420" lvl="1">
              <a:lnSpc>
                <a:spcPts val="2728"/>
              </a:lnSpc>
              <a:buFont typeface="Arial"/>
              <a:buChar char="•"/>
            </a:pPr>
            <a:r>
              <a:rPr lang="en-US" sz="2273" spc="-45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Size: 303 patient records, 14 features.</a:t>
            </a:r>
          </a:p>
          <a:p>
            <a:pPr algn="l">
              <a:lnSpc>
                <a:spcPts val="2728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485956" y="3226795"/>
            <a:ext cx="3715634" cy="411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270" spc="-45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Data Preparation:</a:t>
            </a:r>
          </a:p>
          <a:p>
            <a:pPr algn="l" marL="490094" indent="-245047" lvl="1">
              <a:lnSpc>
                <a:spcPts val="2724"/>
              </a:lnSpc>
              <a:buFont typeface="Arial"/>
              <a:buChar char="•"/>
            </a:pPr>
            <a:r>
              <a:rPr lang="en-US" sz="2270" spc="-45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Cleaning: Imputed 6 missing values (ca, thal) using the mode.</a:t>
            </a:r>
          </a:p>
          <a:p>
            <a:pPr algn="l" marL="490094" indent="-245047" lvl="1">
              <a:lnSpc>
                <a:spcPts val="2724"/>
              </a:lnSpc>
              <a:buFont typeface="Arial"/>
              <a:buChar char="•"/>
            </a:pPr>
            <a:r>
              <a:rPr lang="en-US" sz="2270" spc="-45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Transformation: Converted the target (0-4) into a binary class (0 vs 1).</a:t>
            </a:r>
          </a:p>
          <a:p>
            <a:pPr algn="l" marL="490094" indent="-245047" lvl="1">
              <a:lnSpc>
                <a:spcPts val="2724"/>
              </a:lnSpc>
              <a:buFont typeface="Arial"/>
              <a:buChar char="•"/>
            </a:pPr>
            <a:r>
              <a:rPr lang="en-US" sz="2270" spc="-45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Result: A clean, well-balanced dataset (164 vs 139 samples).</a:t>
            </a:r>
          </a:p>
          <a:p>
            <a:pPr algn="l">
              <a:lnSpc>
                <a:spcPts val="2724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7311" y="2856666"/>
            <a:ext cx="17635709" cy="6298222"/>
            <a:chOff x="0" y="0"/>
            <a:chExt cx="4644796" cy="16587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44796" cy="1658791"/>
            </a:xfrm>
            <a:custGeom>
              <a:avLst/>
              <a:gdLst/>
              <a:ahLst/>
              <a:cxnLst/>
              <a:rect r="r" b="b" t="t" l="l"/>
              <a:pathLst>
                <a:path h="1658791" w="4644796">
                  <a:moveTo>
                    <a:pt x="10975" y="0"/>
                  </a:moveTo>
                  <a:lnTo>
                    <a:pt x="4633821" y="0"/>
                  </a:lnTo>
                  <a:cubicBezTo>
                    <a:pt x="4639882" y="0"/>
                    <a:pt x="4644796" y="4914"/>
                    <a:pt x="4644796" y="10975"/>
                  </a:cubicBezTo>
                  <a:lnTo>
                    <a:pt x="4644796" y="1647816"/>
                  </a:lnTo>
                  <a:cubicBezTo>
                    <a:pt x="4644796" y="1653878"/>
                    <a:pt x="4639882" y="1658791"/>
                    <a:pt x="4633821" y="1658791"/>
                  </a:cubicBezTo>
                  <a:lnTo>
                    <a:pt x="10975" y="1658791"/>
                  </a:lnTo>
                  <a:cubicBezTo>
                    <a:pt x="8064" y="1658791"/>
                    <a:pt x="5273" y="1657635"/>
                    <a:pt x="3214" y="1655577"/>
                  </a:cubicBezTo>
                  <a:cubicBezTo>
                    <a:pt x="1156" y="1653519"/>
                    <a:pt x="0" y="1650727"/>
                    <a:pt x="0" y="1647816"/>
                  </a:cubicBezTo>
                  <a:lnTo>
                    <a:pt x="0" y="10975"/>
                  </a:lnTo>
                  <a:cubicBezTo>
                    <a:pt x="0" y="4914"/>
                    <a:pt x="4914" y="0"/>
                    <a:pt x="10975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44796" cy="16873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465950" y="3442909"/>
            <a:ext cx="5188867" cy="5079019"/>
            <a:chOff x="0" y="0"/>
            <a:chExt cx="967120" cy="9466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67120" cy="946646"/>
            </a:xfrm>
            <a:custGeom>
              <a:avLst/>
              <a:gdLst/>
              <a:ahLst/>
              <a:cxnLst/>
              <a:rect r="r" b="b" t="t" l="l"/>
              <a:pathLst>
                <a:path h="946646" w="967120">
                  <a:moveTo>
                    <a:pt x="37301" y="0"/>
                  </a:moveTo>
                  <a:lnTo>
                    <a:pt x="929820" y="0"/>
                  </a:lnTo>
                  <a:cubicBezTo>
                    <a:pt x="950420" y="0"/>
                    <a:pt x="967120" y="16700"/>
                    <a:pt x="967120" y="37301"/>
                  </a:cubicBezTo>
                  <a:lnTo>
                    <a:pt x="967120" y="909346"/>
                  </a:lnTo>
                  <a:cubicBezTo>
                    <a:pt x="967120" y="919238"/>
                    <a:pt x="963190" y="928726"/>
                    <a:pt x="956195" y="935721"/>
                  </a:cubicBezTo>
                  <a:cubicBezTo>
                    <a:pt x="949200" y="942716"/>
                    <a:pt x="939712" y="946646"/>
                    <a:pt x="929820" y="946646"/>
                  </a:cubicBezTo>
                  <a:lnTo>
                    <a:pt x="37301" y="946646"/>
                  </a:lnTo>
                  <a:cubicBezTo>
                    <a:pt x="16700" y="946646"/>
                    <a:pt x="0" y="929946"/>
                    <a:pt x="0" y="909346"/>
                  </a:cubicBezTo>
                  <a:lnTo>
                    <a:pt x="0" y="37301"/>
                  </a:lnTo>
                  <a:cubicBezTo>
                    <a:pt x="0" y="27408"/>
                    <a:pt x="3930" y="17920"/>
                    <a:pt x="10925" y="10925"/>
                  </a:cubicBezTo>
                  <a:cubicBezTo>
                    <a:pt x="17920" y="3930"/>
                    <a:pt x="27408" y="0"/>
                    <a:pt x="3730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25" r="0" b="-425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91384" y="3442909"/>
            <a:ext cx="5106121" cy="5079019"/>
            <a:chOff x="0" y="0"/>
            <a:chExt cx="1131220" cy="11252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1220" cy="1125216"/>
            </a:xfrm>
            <a:custGeom>
              <a:avLst/>
              <a:gdLst/>
              <a:ahLst/>
              <a:cxnLst/>
              <a:rect r="r" b="b" t="t" l="l"/>
              <a:pathLst>
                <a:path h="1125216" w="1131220">
                  <a:moveTo>
                    <a:pt x="37905" y="0"/>
                  </a:moveTo>
                  <a:lnTo>
                    <a:pt x="1093315" y="0"/>
                  </a:lnTo>
                  <a:cubicBezTo>
                    <a:pt x="1114249" y="0"/>
                    <a:pt x="1131220" y="16971"/>
                    <a:pt x="1131220" y="37905"/>
                  </a:cubicBezTo>
                  <a:lnTo>
                    <a:pt x="1131220" y="1087311"/>
                  </a:lnTo>
                  <a:cubicBezTo>
                    <a:pt x="1131220" y="1108245"/>
                    <a:pt x="1114249" y="1125216"/>
                    <a:pt x="1093315" y="1125216"/>
                  </a:cubicBezTo>
                  <a:lnTo>
                    <a:pt x="37905" y="1125216"/>
                  </a:lnTo>
                  <a:cubicBezTo>
                    <a:pt x="16971" y="1125216"/>
                    <a:pt x="0" y="1108245"/>
                    <a:pt x="0" y="1087311"/>
                  </a:cubicBezTo>
                  <a:lnTo>
                    <a:pt x="0" y="37905"/>
                  </a:lnTo>
                  <a:cubicBezTo>
                    <a:pt x="0" y="16971"/>
                    <a:pt x="16971" y="0"/>
                    <a:pt x="37905" y="0"/>
                  </a:cubicBezTo>
                  <a:close/>
                </a:path>
              </a:pathLst>
            </a:custGeom>
            <a:blipFill>
              <a:blip r:embed="rId3"/>
              <a:stretch>
                <a:fillRect l="-1205" t="0" r="-1205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4860" y="623208"/>
            <a:ext cx="8307515" cy="1415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2"/>
              </a:lnSpc>
            </a:pPr>
            <a:r>
              <a:rPr lang="en-US" b="true" sz="6374" spc="-395">
                <a:solidFill>
                  <a:srgbClr val="FF3131"/>
                </a:solidFill>
                <a:latin typeface="Telegraf Bold"/>
                <a:ea typeface="Telegraf Bold"/>
                <a:cs typeface="Telegraf Bold"/>
                <a:sym typeface="Telegraf Bold"/>
              </a:rPr>
              <a:t>EDA - KEY NUMERICAL PREDICTORS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04381" y="3846329"/>
            <a:ext cx="6561568" cy="322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2"/>
              </a:lnSpc>
            </a:pPr>
            <a:r>
              <a:rPr lang="en-US" sz="2726" spc="-54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Patients with heart disease (1) show clear, measurable differences in key medical readings.</a:t>
            </a:r>
          </a:p>
          <a:p>
            <a:pPr algn="l" marL="480754" indent="-240377" lvl="1">
              <a:lnSpc>
                <a:spcPts val="2672"/>
              </a:lnSpc>
              <a:buFont typeface="Arial"/>
              <a:buChar char="•"/>
            </a:pPr>
            <a:r>
              <a:rPr lang="en-US" sz="2226" spc="-44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They consistently demonstrate a lower thalach (max heart rate) during stress tests.</a:t>
            </a:r>
          </a:p>
          <a:p>
            <a:pPr algn="l" marL="480754" indent="-240377" lvl="1">
              <a:lnSpc>
                <a:spcPts val="2672"/>
              </a:lnSpc>
              <a:buFont typeface="Arial"/>
              <a:buChar char="•"/>
            </a:pPr>
            <a:r>
              <a:rPr lang="en-US" sz="2226" spc="-44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They also show a higher oldpeak (ST depression), indicating stress-induced abnormalities.</a:t>
            </a:r>
          </a:p>
          <a:p>
            <a:pPr algn="l">
              <a:lnSpc>
                <a:spcPts val="2672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430832" y="3276222"/>
            <a:ext cx="792308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spc="-43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Key Insight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2393" y="6296332"/>
            <a:ext cx="9844963" cy="3134419"/>
            <a:chOff x="0" y="0"/>
            <a:chExt cx="2592912" cy="8255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2912" cy="825526"/>
            </a:xfrm>
            <a:custGeom>
              <a:avLst/>
              <a:gdLst/>
              <a:ahLst/>
              <a:cxnLst/>
              <a:rect r="r" b="b" t="t" l="l"/>
              <a:pathLst>
                <a:path h="825526" w="2592912">
                  <a:moveTo>
                    <a:pt x="19660" y="0"/>
                  </a:moveTo>
                  <a:lnTo>
                    <a:pt x="2573252" y="0"/>
                  </a:lnTo>
                  <a:cubicBezTo>
                    <a:pt x="2578466" y="0"/>
                    <a:pt x="2583467" y="2071"/>
                    <a:pt x="2587154" y="5758"/>
                  </a:cubicBezTo>
                  <a:cubicBezTo>
                    <a:pt x="2590841" y="9445"/>
                    <a:pt x="2592912" y="14446"/>
                    <a:pt x="2592912" y="19660"/>
                  </a:cubicBezTo>
                  <a:lnTo>
                    <a:pt x="2592912" y="805866"/>
                  </a:lnTo>
                  <a:cubicBezTo>
                    <a:pt x="2592912" y="811080"/>
                    <a:pt x="2590841" y="816081"/>
                    <a:pt x="2587154" y="819768"/>
                  </a:cubicBezTo>
                  <a:cubicBezTo>
                    <a:pt x="2583467" y="823455"/>
                    <a:pt x="2578466" y="825526"/>
                    <a:pt x="2573252" y="825526"/>
                  </a:cubicBezTo>
                  <a:lnTo>
                    <a:pt x="19660" y="825526"/>
                  </a:lnTo>
                  <a:cubicBezTo>
                    <a:pt x="14446" y="825526"/>
                    <a:pt x="9445" y="823455"/>
                    <a:pt x="5758" y="819768"/>
                  </a:cubicBezTo>
                  <a:cubicBezTo>
                    <a:pt x="2071" y="816081"/>
                    <a:pt x="0" y="811080"/>
                    <a:pt x="0" y="805866"/>
                  </a:cubicBezTo>
                  <a:lnTo>
                    <a:pt x="0" y="19660"/>
                  </a:lnTo>
                  <a:cubicBezTo>
                    <a:pt x="0" y="14446"/>
                    <a:pt x="2071" y="9445"/>
                    <a:pt x="5758" y="5758"/>
                  </a:cubicBezTo>
                  <a:cubicBezTo>
                    <a:pt x="9445" y="2071"/>
                    <a:pt x="14446" y="0"/>
                    <a:pt x="19660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592912" cy="854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03780" y="5143500"/>
            <a:ext cx="7147346" cy="4720937"/>
            <a:chOff x="0" y="0"/>
            <a:chExt cx="1052944" cy="6954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2943" cy="695486"/>
            </a:xfrm>
            <a:custGeom>
              <a:avLst/>
              <a:gdLst/>
              <a:ahLst/>
              <a:cxnLst/>
              <a:rect r="r" b="b" t="t" l="l"/>
              <a:pathLst>
                <a:path h="695486" w="1052943">
                  <a:moveTo>
                    <a:pt x="27080" y="0"/>
                  </a:moveTo>
                  <a:lnTo>
                    <a:pt x="1025864" y="0"/>
                  </a:lnTo>
                  <a:cubicBezTo>
                    <a:pt x="1033046" y="0"/>
                    <a:pt x="1039934" y="2853"/>
                    <a:pt x="1045012" y="7931"/>
                  </a:cubicBezTo>
                  <a:cubicBezTo>
                    <a:pt x="1050090" y="13010"/>
                    <a:pt x="1052943" y="19898"/>
                    <a:pt x="1052943" y="27080"/>
                  </a:cubicBezTo>
                  <a:lnTo>
                    <a:pt x="1052943" y="668406"/>
                  </a:lnTo>
                  <a:cubicBezTo>
                    <a:pt x="1052943" y="683362"/>
                    <a:pt x="1040820" y="695486"/>
                    <a:pt x="1025864" y="695486"/>
                  </a:cubicBezTo>
                  <a:lnTo>
                    <a:pt x="27080" y="695486"/>
                  </a:lnTo>
                  <a:cubicBezTo>
                    <a:pt x="19898" y="695486"/>
                    <a:pt x="13010" y="692633"/>
                    <a:pt x="7931" y="687555"/>
                  </a:cubicBezTo>
                  <a:cubicBezTo>
                    <a:pt x="2853" y="682476"/>
                    <a:pt x="0" y="675588"/>
                    <a:pt x="0" y="668406"/>
                  </a:cubicBezTo>
                  <a:lnTo>
                    <a:pt x="0" y="27080"/>
                  </a:lnTo>
                  <a:cubicBezTo>
                    <a:pt x="0" y="12124"/>
                    <a:pt x="12124" y="0"/>
                    <a:pt x="2708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89" r="0" b="-189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82393" y="442782"/>
            <a:ext cx="8267511" cy="5511548"/>
            <a:chOff x="0" y="0"/>
            <a:chExt cx="1168755" cy="7791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68755" cy="779152"/>
            </a:xfrm>
            <a:custGeom>
              <a:avLst/>
              <a:gdLst/>
              <a:ahLst/>
              <a:cxnLst/>
              <a:rect r="r" b="b" t="t" l="l"/>
              <a:pathLst>
                <a:path h="779152" w="1168755">
                  <a:moveTo>
                    <a:pt x="23411" y="0"/>
                  </a:moveTo>
                  <a:lnTo>
                    <a:pt x="1145344" y="0"/>
                  </a:lnTo>
                  <a:cubicBezTo>
                    <a:pt x="1158274" y="0"/>
                    <a:pt x="1168755" y="10481"/>
                    <a:pt x="1168755" y="23411"/>
                  </a:cubicBezTo>
                  <a:lnTo>
                    <a:pt x="1168755" y="755742"/>
                  </a:lnTo>
                  <a:cubicBezTo>
                    <a:pt x="1168755" y="768671"/>
                    <a:pt x="1158274" y="779152"/>
                    <a:pt x="1145344" y="779152"/>
                  </a:cubicBezTo>
                  <a:lnTo>
                    <a:pt x="23411" y="779152"/>
                  </a:lnTo>
                  <a:cubicBezTo>
                    <a:pt x="17202" y="779152"/>
                    <a:pt x="11247" y="776686"/>
                    <a:pt x="6857" y="772295"/>
                  </a:cubicBezTo>
                  <a:cubicBezTo>
                    <a:pt x="2466" y="767905"/>
                    <a:pt x="0" y="761950"/>
                    <a:pt x="0" y="755742"/>
                  </a:cubicBezTo>
                  <a:lnTo>
                    <a:pt x="0" y="23411"/>
                  </a:lnTo>
                  <a:cubicBezTo>
                    <a:pt x="0" y="17202"/>
                    <a:pt x="2466" y="11247"/>
                    <a:pt x="6857" y="6857"/>
                  </a:cubicBezTo>
                  <a:cubicBezTo>
                    <a:pt x="11247" y="2466"/>
                    <a:pt x="17202" y="0"/>
                    <a:pt x="23411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691" r="0" b="-69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758752" y="1295400"/>
            <a:ext cx="8392375" cy="2729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7"/>
              </a:lnSpc>
            </a:pPr>
            <a:r>
              <a:rPr lang="en-US" b="true" sz="8587" spc="-532">
                <a:solidFill>
                  <a:srgbClr val="FF3131"/>
                </a:solidFill>
                <a:latin typeface="Telegraf Bold"/>
                <a:ea typeface="Telegraf Bold"/>
                <a:cs typeface="Telegraf Bold"/>
                <a:sym typeface="Telegraf Bold"/>
              </a:rPr>
              <a:t>EDA - KEY CATEGORICAL PREDICTORS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5901" y="6563379"/>
            <a:ext cx="9324921" cy="260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-49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Key Insight: Patient-reported symptoms and test results are highly predictive "risk factors".</a:t>
            </a:r>
          </a:p>
          <a:p>
            <a:pPr algn="l" marL="539704" indent="-269852" lvl="1">
              <a:lnSpc>
                <a:spcPts val="2999"/>
              </a:lnSpc>
              <a:buFont typeface="Arial"/>
              <a:buChar char="•"/>
            </a:pPr>
            <a:r>
              <a:rPr lang="en-US" sz="2499" spc="-49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Chest Pain (cp): Type 0 (Typical Angina) is strongly linked to having heart disease.</a:t>
            </a:r>
          </a:p>
          <a:p>
            <a:pPr algn="l" marL="539704" indent="-269852" lvl="1">
              <a:lnSpc>
                <a:spcPts val="2999"/>
              </a:lnSpc>
              <a:buFont typeface="Arial"/>
              <a:buChar char="•"/>
            </a:pPr>
            <a:r>
              <a:rPr lang="en-US" sz="2499" spc="-49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Exercise Angina (exang): Patients with exercise-induced angina (exang=1) are far more likely to have heart disease.</a:t>
            </a:r>
          </a:p>
          <a:p>
            <a:pPr algn="l">
              <a:lnSpc>
                <a:spcPts val="299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7075" y="3531363"/>
            <a:ext cx="8866925" cy="5919133"/>
            <a:chOff x="0" y="0"/>
            <a:chExt cx="2335322" cy="1558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5322" cy="1558949"/>
            </a:xfrm>
            <a:custGeom>
              <a:avLst/>
              <a:gdLst/>
              <a:ahLst/>
              <a:cxnLst/>
              <a:rect r="r" b="b" t="t" l="l"/>
              <a:pathLst>
                <a:path h="1558949" w="2335322">
                  <a:moveTo>
                    <a:pt x="21828" y="0"/>
                  </a:moveTo>
                  <a:lnTo>
                    <a:pt x="2313494" y="0"/>
                  </a:lnTo>
                  <a:cubicBezTo>
                    <a:pt x="2319283" y="0"/>
                    <a:pt x="2324835" y="2300"/>
                    <a:pt x="2328929" y="6393"/>
                  </a:cubicBezTo>
                  <a:cubicBezTo>
                    <a:pt x="2333022" y="10487"/>
                    <a:pt x="2335322" y="16039"/>
                    <a:pt x="2335322" y="21828"/>
                  </a:cubicBezTo>
                  <a:lnTo>
                    <a:pt x="2335322" y="1537121"/>
                  </a:lnTo>
                  <a:cubicBezTo>
                    <a:pt x="2335322" y="1549176"/>
                    <a:pt x="2325549" y="1558949"/>
                    <a:pt x="2313494" y="1558949"/>
                  </a:cubicBezTo>
                  <a:lnTo>
                    <a:pt x="21828" y="1558949"/>
                  </a:lnTo>
                  <a:cubicBezTo>
                    <a:pt x="9773" y="1558949"/>
                    <a:pt x="0" y="1549176"/>
                    <a:pt x="0" y="1537121"/>
                  </a:cubicBezTo>
                  <a:lnTo>
                    <a:pt x="0" y="21828"/>
                  </a:lnTo>
                  <a:cubicBezTo>
                    <a:pt x="0" y="9773"/>
                    <a:pt x="9773" y="0"/>
                    <a:pt x="21828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335322" cy="1587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28792" y="3531363"/>
            <a:ext cx="7909405" cy="5919133"/>
            <a:chOff x="0" y="0"/>
            <a:chExt cx="1225374" cy="9170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5374" cy="917029"/>
            </a:xfrm>
            <a:custGeom>
              <a:avLst/>
              <a:gdLst/>
              <a:ahLst/>
              <a:cxnLst/>
              <a:rect r="r" b="b" t="t" l="l"/>
              <a:pathLst>
                <a:path h="917029" w="1225374">
                  <a:moveTo>
                    <a:pt x="24471" y="0"/>
                  </a:moveTo>
                  <a:lnTo>
                    <a:pt x="1200903" y="0"/>
                  </a:lnTo>
                  <a:cubicBezTo>
                    <a:pt x="1214418" y="0"/>
                    <a:pt x="1225374" y="10956"/>
                    <a:pt x="1225374" y="24471"/>
                  </a:cubicBezTo>
                  <a:lnTo>
                    <a:pt x="1225374" y="892558"/>
                  </a:lnTo>
                  <a:cubicBezTo>
                    <a:pt x="1225374" y="906073"/>
                    <a:pt x="1214418" y="917029"/>
                    <a:pt x="1200903" y="917029"/>
                  </a:cubicBezTo>
                  <a:lnTo>
                    <a:pt x="24471" y="917029"/>
                  </a:lnTo>
                  <a:cubicBezTo>
                    <a:pt x="10956" y="917029"/>
                    <a:pt x="0" y="906073"/>
                    <a:pt x="0" y="892558"/>
                  </a:cubicBezTo>
                  <a:lnTo>
                    <a:pt x="0" y="24471"/>
                  </a:lnTo>
                  <a:cubicBezTo>
                    <a:pt x="0" y="10956"/>
                    <a:pt x="10956" y="0"/>
                    <a:pt x="2447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531" r="0" b="-253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77075" y="697365"/>
            <a:ext cx="13131842" cy="1850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6"/>
              </a:lnSpc>
            </a:pPr>
            <a:r>
              <a:rPr lang="en-US" b="true" sz="8341" spc="-517">
                <a:solidFill>
                  <a:srgbClr val="FF3131"/>
                </a:solidFill>
                <a:latin typeface="Telegraf Bold"/>
                <a:ea typeface="Telegraf Bold"/>
                <a:cs typeface="Telegraf Bold"/>
                <a:sym typeface="Telegraf Bold"/>
              </a:rPr>
              <a:t>EDA - CORRELATION HEATMAP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0496" y="3871555"/>
            <a:ext cx="8540083" cy="523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3493" spc="-69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Key Insight: The heatmap confirms our findings and reveals which features are most important for modeling.</a:t>
            </a:r>
          </a:p>
          <a:p>
            <a:pPr algn="l" marL="754240" indent="-377120" lvl="1">
              <a:lnSpc>
                <a:spcPts val="4192"/>
              </a:lnSpc>
              <a:buFont typeface="Arial"/>
              <a:buChar char="•"/>
            </a:pPr>
            <a:r>
              <a:rPr lang="en-US" sz="3493" spc="-69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Strongest Negative Correlation: target vs. thalach (Max Heart Rate).</a:t>
            </a:r>
          </a:p>
          <a:p>
            <a:pPr algn="l" marL="754240" indent="-377120" lvl="1">
              <a:lnSpc>
                <a:spcPts val="4192"/>
              </a:lnSpc>
              <a:buFont typeface="Arial"/>
              <a:buChar char="•"/>
            </a:pPr>
            <a:r>
              <a:rPr lang="en-US" sz="3493" spc="-69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Strongest Positive Correlations: target vs. oldpeak (ST Depression) and target vs. ca (Number of Major Vessels).</a:t>
            </a:r>
          </a:p>
          <a:p>
            <a:pPr algn="l">
              <a:lnSpc>
                <a:spcPts val="4192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29702" y="2153984"/>
            <a:ext cx="7758298" cy="1603254"/>
            <a:chOff x="0" y="0"/>
            <a:chExt cx="2043338" cy="4222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43338" cy="422256"/>
            </a:xfrm>
            <a:custGeom>
              <a:avLst/>
              <a:gdLst/>
              <a:ahLst/>
              <a:cxnLst/>
              <a:rect r="r" b="b" t="t" l="l"/>
              <a:pathLst>
                <a:path h="422256" w="2043338">
                  <a:moveTo>
                    <a:pt x="24947" y="0"/>
                  </a:moveTo>
                  <a:lnTo>
                    <a:pt x="2018391" y="0"/>
                  </a:lnTo>
                  <a:cubicBezTo>
                    <a:pt x="2032168" y="0"/>
                    <a:pt x="2043338" y="11169"/>
                    <a:pt x="2043338" y="24947"/>
                  </a:cubicBezTo>
                  <a:lnTo>
                    <a:pt x="2043338" y="397309"/>
                  </a:lnTo>
                  <a:cubicBezTo>
                    <a:pt x="2043338" y="411087"/>
                    <a:pt x="2032168" y="422256"/>
                    <a:pt x="2018391" y="422256"/>
                  </a:cubicBezTo>
                  <a:lnTo>
                    <a:pt x="24947" y="422256"/>
                  </a:lnTo>
                  <a:cubicBezTo>
                    <a:pt x="11169" y="422256"/>
                    <a:pt x="0" y="411087"/>
                    <a:pt x="0" y="397309"/>
                  </a:cubicBezTo>
                  <a:lnTo>
                    <a:pt x="0" y="24947"/>
                  </a:lnTo>
                  <a:cubicBezTo>
                    <a:pt x="0" y="11169"/>
                    <a:pt x="11169" y="0"/>
                    <a:pt x="24947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043338" cy="450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529702" y="3985837"/>
            <a:ext cx="7758298" cy="1603254"/>
            <a:chOff x="0" y="0"/>
            <a:chExt cx="2043338" cy="4222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43338" cy="422256"/>
            </a:xfrm>
            <a:custGeom>
              <a:avLst/>
              <a:gdLst/>
              <a:ahLst/>
              <a:cxnLst/>
              <a:rect r="r" b="b" t="t" l="l"/>
              <a:pathLst>
                <a:path h="422256" w="2043338">
                  <a:moveTo>
                    <a:pt x="24947" y="0"/>
                  </a:moveTo>
                  <a:lnTo>
                    <a:pt x="2018391" y="0"/>
                  </a:lnTo>
                  <a:cubicBezTo>
                    <a:pt x="2032168" y="0"/>
                    <a:pt x="2043338" y="11169"/>
                    <a:pt x="2043338" y="24947"/>
                  </a:cubicBezTo>
                  <a:lnTo>
                    <a:pt x="2043338" y="397309"/>
                  </a:lnTo>
                  <a:cubicBezTo>
                    <a:pt x="2043338" y="411087"/>
                    <a:pt x="2032168" y="422256"/>
                    <a:pt x="2018391" y="422256"/>
                  </a:cubicBezTo>
                  <a:lnTo>
                    <a:pt x="24947" y="422256"/>
                  </a:lnTo>
                  <a:cubicBezTo>
                    <a:pt x="11169" y="422256"/>
                    <a:pt x="0" y="411087"/>
                    <a:pt x="0" y="397309"/>
                  </a:cubicBezTo>
                  <a:lnTo>
                    <a:pt x="0" y="24947"/>
                  </a:lnTo>
                  <a:cubicBezTo>
                    <a:pt x="0" y="11169"/>
                    <a:pt x="11169" y="0"/>
                    <a:pt x="24947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043338" cy="450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529702" y="5820442"/>
            <a:ext cx="7758298" cy="1603254"/>
            <a:chOff x="0" y="0"/>
            <a:chExt cx="2043338" cy="4222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3338" cy="422256"/>
            </a:xfrm>
            <a:custGeom>
              <a:avLst/>
              <a:gdLst/>
              <a:ahLst/>
              <a:cxnLst/>
              <a:rect r="r" b="b" t="t" l="l"/>
              <a:pathLst>
                <a:path h="422256" w="2043338">
                  <a:moveTo>
                    <a:pt x="24947" y="0"/>
                  </a:moveTo>
                  <a:lnTo>
                    <a:pt x="2018391" y="0"/>
                  </a:lnTo>
                  <a:cubicBezTo>
                    <a:pt x="2032168" y="0"/>
                    <a:pt x="2043338" y="11169"/>
                    <a:pt x="2043338" y="24947"/>
                  </a:cubicBezTo>
                  <a:lnTo>
                    <a:pt x="2043338" y="397309"/>
                  </a:lnTo>
                  <a:cubicBezTo>
                    <a:pt x="2043338" y="411087"/>
                    <a:pt x="2032168" y="422256"/>
                    <a:pt x="2018391" y="422256"/>
                  </a:cubicBezTo>
                  <a:lnTo>
                    <a:pt x="24947" y="422256"/>
                  </a:lnTo>
                  <a:cubicBezTo>
                    <a:pt x="11169" y="422256"/>
                    <a:pt x="0" y="411087"/>
                    <a:pt x="0" y="397309"/>
                  </a:cubicBezTo>
                  <a:lnTo>
                    <a:pt x="0" y="24947"/>
                  </a:lnTo>
                  <a:cubicBezTo>
                    <a:pt x="0" y="11169"/>
                    <a:pt x="11169" y="0"/>
                    <a:pt x="24947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043338" cy="450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529702" y="7661820"/>
            <a:ext cx="7758298" cy="1603254"/>
            <a:chOff x="0" y="0"/>
            <a:chExt cx="2043338" cy="4222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43338" cy="422256"/>
            </a:xfrm>
            <a:custGeom>
              <a:avLst/>
              <a:gdLst/>
              <a:ahLst/>
              <a:cxnLst/>
              <a:rect r="r" b="b" t="t" l="l"/>
              <a:pathLst>
                <a:path h="422256" w="2043338">
                  <a:moveTo>
                    <a:pt x="24947" y="0"/>
                  </a:moveTo>
                  <a:lnTo>
                    <a:pt x="2018391" y="0"/>
                  </a:lnTo>
                  <a:cubicBezTo>
                    <a:pt x="2032168" y="0"/>
                    <a:pt x="2043338" y="11169"/>
                    <a:pt x="2043338" y="24947"/>
                  </a:cubicBezTo>
                  <a:lnTo>
                    <a:pt x="2043338" y="397309"/>
                  </a:lnTo>
                  <a:cubicBezTo>
                    <a:pt x="2043338" y="411087"/>
                    <a:pt x="2032168" y="422256"/>
                    <a:pt x="2018391" y="422256"/>
                  </a:cubicBezTo>
                  <a:lnTo>
                    <a:pt x="24947" y="422256"/>
                  </a:lnTo>
                  <a:cubicBezTo>
                    <a:pt x="11169" y="422256"/>
                    <a:pt x="0" y="411087"/>
                    <a:pt x="0" y="397309"/>
                  </a:cubicBezTo>
                  <a:lnTo>
                    <a:pt x="0" y="24947"/>
                  </a:lnTo>
                  <a:cubicBezTo>
                    <a:pt x="0" y="11169"/>
                    <a:pt x="11169" y="0"/>
                    <a:pt x="24947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043338" cy="450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1179" y="3500891"/>
            <a:ext cx="7378716" cy="4639101"/>
            <a:chOff x="0" y="0"/>
            <a:chExt cx="1009101" cy="6344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9101" cy="634436"/>
            </a:xfrm>
            <a:custGeom>
              <a:avLst/>
              <a:gdLst/>
              <a:ahLst/>
              <a:cxnLst/>
              <a:rect r="r" b="b" t="t" l="l"/>
              <a:pathLst>
                <a:path h="634436" w="1009101">
                  <a:moveTo>
                    <a:pt x="26231" y="0"/>
                  </a:moveTo>
                  <a:lnTo>
                    <a:pt x="982870" y="0"/>
                  </a:lnTo>
                  <a:cubicBezTo>
                    <a:pt x="997357" y="0"/>
                    <a:pt x="1009101" y="11744"/>
                    <a:pt x="1009101" y="26231"/>
                  </a:cubicBezTo>
                  <a:lnTo>
                    <a:pt x="1009101" y="608205"/>
                  </a:lnTo>
                  <a:cubicBezTo>
                    <a:pt x="1009101" y="615162"/>
                    <a:pt x="1006337" y="621834"/>
                    <a:pt x="1001418" y="626753"/>
                  </a:cubicBezTo>
                  <a:cubicBezTo>
                    <a:pt x="996499" y="631672"/>
                    <a:pt x="989827" y="634436"/>
                    <a:pt x="982870" y="634436"/>
                  </a:cubicBezTo>
                  <a:lnTo>
                    <a:pt x="26231" y="634436"/>
                  </a:lnTo>
                  <a:cubicBezTo>
                    <a:pt x="19274" y="634436"/>
                    <a:pt x="12602" y="631672"/>
                    <a:pt x="7683" y="626753"/>
                  </a:cubicBezTo>
                  <a:cubicBezTo>
                    <a:pt x="2764" y="621834"/>
                    <a:pt x="0" y="615162"/>
                    <a:pt x="0" y="608205"/>
                  </a:cubicBezTo>
                  <a:lnTo>
                    <a:pt x="0" y="26231"/>
                  </a:lnTo>
                  <a:cubicBezTo>
                    <a:pt x="0" y="19274"/>
                    <a:pt x="2764" y="12602"/>
                    <a:pt x="7683" y="7683"/>
                  </a:cubicBezTo>
                  <a:cubicBezTo>
                    <a:pt x="12602" y="2764"/>
                    <a:pt x="19274" y="0"/>
                    <a:pt x="2623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897" r="0" b="-897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77075" y="661743"/>
            <a:ext cx="9743928" cy="2028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8"/>
              </a:lnSpc>
            </a:pPr>
            <a:r>
              <a:rPr lang="en-US" b="true" sz="6305" spc="-390">
                <a:solidFill>
                  <a:srgbClr val="FF3131"/>
                </a:solidFill>
                <a:latin typeface="Telegraf Bold"/>
                <a:ea typeface="Telegraf Bold"/>
                <a:cs typeface="Telegraf Bold"/>
                <a:sym typeface="Telegraf Bold"/>
              </a:rPr>
              <a:t>MODELING PIPELINE &amp; HYPERPARAMETER TUNING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55340" y="2776162"/>
            <a:ext cx="723266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spc="-39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Converted 8 categorical features (e.g., cp, thal) into 22 total features.</a:t>
            </a:r>
          </a:p>
          <a:p>
            <a:pPr algn="l">
              <a:lnSpc>
                <a:spcPts val="239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1055340" y="2433262"/>
            <a:ext cx="50658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b="true" sz="1699" i="true" spc="-33">
                <a:solidFill>
                  <a:srgbClr val="F2F1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One-Hot Encoding:</a:t>
            </a:r>
          </a:p>
          <a:p>
            <a:pPr algn="l">
              <a:lnSpc>
                <a:spcPts val="203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1055340" y="4696492"/>
            <a:ext cx="723266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spc="-39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Split data 80% (242 samples) for training and 20% (61 samples) for testing.</a:t>
            </a:r>
          </a:p>
          <a:p>
            <a:pPr algn="l">
              <a:lnSpc>
                <a:spcPts val="239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1055340" y="4305967"/>
            <a:ext cx="50658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b="true" sz="1699" i="true" spc="-33">
                <a:solidFill>
                  <a:srgbClr val="F2F1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Train-Test Split:</a:t>
            </a:r>
          </a:p>
          <a:p>
            <a:pPr algn="l">
              <a:lnSpc>
                <a:spcPts val="2039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1055340" y="6466483"/>
            <a:ext cx="7062023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-40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Applied StandardScaler to all features, vital for models like SVM and KNN.</a:t>
            </a:r>
          </a:p>
          <a:p>
            <a:pPr algn="l">
              <a:lnSpc>
                <a:spcPts val="2400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1055340" y="6114091"/>
            <a:ext cx="50658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b="true" sz="1699" i="true" spc="-33">
                <a:solidFill>
                  <a:srgbClr val="F2F1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Feature Scaling:</a:t>
            </a:r>
          </a:p>
          <a:p>
            <a:pPr algn="l">
              <a:lnSpc>
                <a:spcPts val="2039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1055340" y="8252370"/>
            <a:ext cx="7062023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-40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For models like KNN, we used the "Elbow Method" to find the optimal 'k' to minimize error.</a:t>
            </a:r>
          </a:p>
          <a:p>
            <a:pPr algn="l">
              <a:lnSpc>
                <a:spcPts val="2400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1055340" y="7947570"/>
            <a:ext cx="50658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b="true" sz="1699" i="true" spc="-33">
                <a:solidFill>
                  <a:srgbClr val="F2F1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Tuning:</a:t>
            </a:r>
          </a:p>
          <a:p>
            <a:pPr algn="l">
              <a:lnSpc>
                <a:spcPts val="203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20263" y="2151232"/>
            <a:ext cx="7570923" cy="5646350"/>
            <a:chOff x="0" y="0"/>
            <a:chExt cx="1993988" cy="14871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93988" cy="1487105"/>
            </a:xfrm>
            <a:custGeom>
              <a:avLst/>
              <a:gdLst/>
              <a:ahLst/>
              <a:cxnLst/>
              <a:rect r="r" b="b" t="t" l="l"/>
              <a:pathLst>
                <a:path h="1487105" w="1993988">
                  <a:moveTo>
                    <a:pt x="25565" y="0"/>
                  </a:moveTo>
                  <a:lnTo>
                    <a:pt x="1968423" y="0"/>
                  </a:lnTo>
                  <a:cubicBezTo>
                    <a:pt x="1982542" y="0"/>
                    <a:pt x="1993988" y="11446"/>
                    <a:pt x="1993988" y="25565"/>
                  </a:cubicBezTo>
                  <a:lnTo>
                    <a:pt x="1993988" y="1461540"/>
                  </a:lnTo>
                  <a:cubicBezTo>
                    <a:pt x="1993988" y="1475659"/>
                    <a:pt x="1982542" y="1487105"/>
                    <a:pt x="1968423" y="1487105"/>
                  </a:cubicBezTo>
                  <a:lnTo>
                    <a:pt x="25565" y="1487105"/>
                  </a:lnTo>
                  <a:cubicBezTo>
                    <a:pt x="18784" y="1487105"/>
                    <a:pt x="12282" y="1484411"/>
                    <a:pt x="7488" y="1479617"/>
                  </a:cubicBezTo>
                  <a:cubicBezTo>
                    <a:pt x="2693" y="1474823"/>
                    <a:pt x="0" y="1468320"/>
                    <a:pt x="0" y="1461540"/>
                  </a:cubicBezTo>
                  <a:lnTo>
                    <a:pt x="0" y="25565"/>
                  </a:lnTo>
                  <a:cubicBezTo>
                    <a:pt x="0" y="11446"/>
                    <a:pt x="11446" y="0"/>
                    <a:pt x="25565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993988" cy="1515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077069" y="2402897"/>
            <a:ext cx="7060946" cy="5138482"/>
            <a:chOff x="0" y="0"/>
            <a:chExt cx="1084605" cy="7893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4605" cy="789303"/>
            </a:xfrm>
            <a:custGeom>
              <a:avLst/>
              <a:gdLst/>
              <a:ahLst/>
              <a:cxnLst/>
              <a:rect r="r" b="b" t="t" l="l"/>
              <a:pathLst>
                <a:path h="789303" w="1084605">
                  <a:moveTo>
                    <a:pt x="27411" y="0"/>
                  </a:moveTo>
                  <a:lnTo>
                    <a:pt x="1057194" y="0"/>
                  </a:lnTo>
                  <a:cubicBezTo>
                    <a:pt x="1072333" y="0"/>
                    <a:pt x="1084605" y="12272"/>
                    <a:pt x="1084605" y="27411"/>
                  </a:cubicBezTo>
                  <a:lnTo>
                    <a:pt x="1084605" y="761892"/>
                  </a:lnTo>
                  <a:cubicBezTo>
                    <a:pt x="1084605" y="777030"/>
                    <a:pt x="1072333" y="789303"/>
                    <a:pt x="1057194" y="789303"/>
                  </a:cubicBezTo>
                  <a:lnTo>
                    <a:pt x="27411" y="789303"/>
                  </a:lnTo>
                  <a:cubicBezTo>
                    <a:pt x="12272" y="789303"/>
                    <a:pt x="0" y="777030"/>
                    <a:pt x="0" y="761892"/>
                  </a:cubicBezTo>
                  <a:lnTo>
                    <a:pt x="0" y="27411"/>
                  </a:lnTo>
                  <a:cubicBezTo>
                    <a:pt x="0" y="12272"/>
                    <a:pt x="12272" y="0"/>
                    <a:pt x="2741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756" r="0" b="-75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0933" y="340848"/>
            <a:ext cx="14137492" cy="126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4"/>
              </a:lnSpc>
            </a:pPr>
            <a:r>
              <a:rPr lang="en-US" b="true" sz="5736" spc="-355">
                <a:solidFill>
                  <a:srgbClr val="FF3131"/>
                </a:solidFill>
                <a:latin typeface="Telegraf Bold"/>
                <a:ea typeface="Telegraf Bold"/>
                <a:cs typeface="Telegraf Bold"/>
                <a:sym typeface="Telegraf Bold"/>
              </a:rPr>
              <a:t>MODEL PERFORMANCE COMPARISON (ACCURACY)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1962726"/>
            <a:ext cx="8487764" cy="1603254"/>
            <a:chOff x="0" y="0"/>
            <a:chExt cx="2235460" cy="4222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5460" cy="422256"/>
            </a:xfrm>
            <a:custGeom>
              <a:avLst/>
              <a:gdLst/>
              <a:ahLst/>
              <a:cxnLst/>
              <a:rect r="r" b="b" t="t" l="l"/>
              <a:pathLst>
                <a:path h="422256" w="2235460">
                  <a:moveTo>
                    <a:pt x="22803" y="0"/>
                  </a:moveTo>
                  <a:lnTo>
                    <a:pt x="2212657" y="0"/>
                  </a:lnTo>
                  <a:cubicBezTo>
                    <a:pt x="2225251" y="0"/>
                    <a:pt x="2235460" y="10209"/>
                    <a:pt x="2235460" y="22803"/>
                  </a:cubicBezTo>
                  <a:lnTo>
                    <a:pt x="2235460" y="399453"/>
                  </a:lnTo>
                  <a:cubicBezTo>
                    <a:pt x="2235460" y="412047"/>
                    <a:pt x="2225251" y="422256"/>
                    <a:pt x="2212657" y="422256"/>
                  </a:cubicBezTo>
                  <a:lnTo>
                    <a:pt x="22803" y="422256"/>
                  </a:lnTo>
                  <a:cubicBezTo>
                    <a:pt x="16755" y="422256"/>
                    <a:pt x="10955" y="419854"/>
                    <a:pt x="6679" y="415577"/>
                  </a:cubicBezTo>
                  <a:cubicBezTo>
                    <a:pt x="2402" y="411301"/>
                    <a:pt x="0" y="405501"/>
                    <a:pt x="0" y="399453"/>
                  </a:cubicBezTo>
                  <a:lnTo>
                    <a:pt x="0" y="22803"/>
                  </a:lnTo>
                  <a:cubicBezTo>
                    <a:pt x="0" y="16755"/>
                    <a:pt x="2402" y="10955"/>
                    <a:pt x="6679" y="6679"/>
                  </a:cubicBezTo>
                  <a:cubicBezTo>
                    <a:pt x="10955" y="2402"/>
                    <a:pt x="16755" y="0"/>
                    <a:pt x="22803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235460" cy="450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60933" y="2402897"/>
            <a:ext cx="819251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spc="-43" b="true">
                <a:solidFill>
                  <a:srgbClr val="F2F1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Results:</a:t>
            </a:r>
            <a:r>
              <a:rPr lang="en-US" sz="2199" spc="-43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99" i="true" spc="-43">
                <a:solidFill>
                  <a:srgbClr val="F2F1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All 13 models were trained and tested. The results show a clear winner in terms of overall accuracy.</a:t>
            </a:r>
          </a:p>
          <a:p>
            <a:pPr algn="l">
              <a:lnSpc>
                <a:spcPts val="2639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3310" y="3886226"/>
            <a:ext cx="8487764" cy="1603254"/>
            <a:chOff x="0" y="0"/>
            <a:chExt cx="2235460" cy="4222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5460" cy="422256"/>
            </a:xfrm>
            <a:custGeom>
              <a:avLst/>
              <a:gdLst/>
              <a:ahLst/>
              <a:cxnLst/>
              <a:rect r="r" b="b" t="t" l="l"/>
              <a:pathLst>
                <a:path h="422256" w="2235460">
                  <a:moveTo>
                    <a:pt x="22803" y="0"/>
                  </a:moveTo>
                  <a:lnTo>
                    <a:pt x="2212657" y="0"/>
                  </a:lnTo>
                  <a:cubicBezTo>
                    <a:pt x="2225251" y="0"/>
                    <a:pt x="2235460" y="10209"/>
                    <a:pt x="2235460" y="22803"/>
                  </a:cubicBezTo>
                  <a:lnTo>
                    <a:pt x="2235460" y="399453"/>
                  </a:lnTo>
                  <a:cubicBezTo>
                    <a:pt x="2235460" y="412047"/>
                    <a:pt x="2225251" y="422256"/>
                    <a:pt x="2212657" y="422256"/>
                  </a:cubicBezTo>
                  <a:lnTo>
                    <a:pt x="22803" y="422256"/>
                  </a:lnTo>
                  <a:cubicBezTo>
                    <a:pt x="16755" y="422256"/>
                    <a:pt x="10955" y="419854"/>
                    <a:pt x="6679" y="415577"/>
                  </a:cubicBezTo>
                  <a:cubicBezTo>
                    <a:pt x="2402" y="411301"/>
                    <a:pt x="0" y="405501"/>
                    <a:pt x="0" y="399453"/>
                  </a:cubicBezTo>
                  <a:lnTo>
                    <a:pt x="0" y="22803"/>
                  </a:lnTo>
                  <a:cubicBezTo>
                    <a:pt x="0" y="16755"/>
                    <a:pt x="2402" y="10955"/>
                    <a:pt x="6679" y="6679"/>
                  </a:cubicBezTo>
                  <a:cubicBezTo>
                    <a:pt x="10955" y="2402"/>
                    <a:pt x="16755" y="0"/>
                    <a:pt x="22803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235460" cy="450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310" y="5841904"/>
            <a:ext cx="8487764" cy="1603254"/>
            <a:chOff x="0" y="0"/>
            <a:chExt cx="2235460" cy="4222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5460" cy="422256"/>
            </a:xfrm>
            <a:custGeom>
              <a:avLst/>
              <a:gdLst/>
              <a:ahLst/>
              <a:cxnLst/>
              <a:rect r="r" b="b" t="t" l="l"/>
              <a:pathLst>
                <a:path h="422256" w="2235460">
                  <a:moveTo>
                    <a:pt x="22803" y="0"/>
                  </a:moveTo>
                  <a:lnTo>
                    <a:pt x="2212657" y="0"/>
                  </a:lnTo>
                  <a:cubicBezTo>
                    <a:pt x="2225251" y="0"/>
                    <a:pt x="2235460" y="10209"/>
                    <a:pt x="2235460" y="22803"/>
                  </a:cubicBezTo>
                  <a:lnTo>
                    <a:pt x="2235460" y="399453"/>
                  </a:lnTo>
                  <a:cubicBezTo>
                    <a:pt x="2235460" y="412047"/>
                    <a:pt x="2225251" y="422256"/>
                    <a:pt x="2212657" y="422256"/>
                  </a:cubicBezTo>
                  <a:lnTo>
                    <a:pt x="22803" y="422256"/>
                  </a:lnTo>
                  <a:cubicBezTo>
                    <a:pt x="16755" y="422256"/>
                    <a:pt x="10955" y="419854"/>
                    <a:pt x="6679" y="415577"/>
                  </a:cubicBezTo>
                  <a:cubicBezTo>
                    <a:pt x="2402" y="411301"/>
                    <a:pt x="0" y="405501"/>
                    <a:pt x="0" y="399453"/>
                  </a:cubicBezTo>
                  <a:lnTo>
                    <a:pt x="0" y="22803"/>
                  </a:lnTo>
                  <a:cubicBezTo>
                    <a:pt x="0" y="16755"/>
                    <a:pt x="2402" y="10955"/>
                    <a:pt x="6679" y="6679"/>
                  </a:cubicBezTo>
                  <a:cubicBezTo>
                    <a:pt x="10955" y="2402"/>
                    <a:pt x="16755" y="0"/>
                    <a:pt x="22803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235460" cy="450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310" y="7797583"/>
            <a:ext cx="8487764" cy="1603254"/>
            <a:chOff x="0" y="0"/>
            <a:chExt cx="2235460" cy="4222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35460" cy="422256"/>
            </a:xfrm>
            <a:custGeom>
              <a:avLst/>
              <a:gdLst/>
              <a:ahLst/>
              <a:cxnLst/>
              <a:rect r="r" b="b" t="t" l="l"/>
              <a:pathLst>
                <a:path h="422256" w="2235460">
                  <a:moveTo>
                    <a:pt x="22803" y="0"/>
                  </a:moveTo>
                  <a:lnTo>
                    <a:pt x="2212657" y="0"/>
                  </a:lnTo>
                  <a:cubicBezTo>
                    <a:pt x="2225251" y="0"/>
                    <a:pt x="2235460" y="10209"/>
                    <a:pt x="2235460" y="22803"/>
                  </a:cubicBezTo>
                  <a:lnTo>
                    <a:pt x="2235460" y="399453"/>
                  </a:lnTo>
                  <a:cubicBezTo>
                    <a:pt x="2235460" y="412047"/>
                    <a:pt x="2225251" y="422256"/>
                    <a:pt x="2212657" y="422256"/>
                  </a:cubicBezTo>
                  <a:lnTo>
                    <a:pt x="22803" y="422256"/>
                  </a:lnTo>
                  <a:cubicBezTo>
                    <a:pt x="16755" y="422256"/>
                    <a:pt x="10955" y="419854"/>
                    <a:pt x="6679" y="415577"/>
                  </a:cubicBezTo>
                  <a:cubicBezTo>
                    <a:pt x="2402" y="411301"/>
                    <a:pt x="0" y="405501"/>
                    <a:pt x="0" y="399453"/>
                  </a:cubicBezTo>
                  <a:lnTo>
                    <a:pt x="0" y="22803"/>
                  </a:lnTo>
                  <a:cubicBezTo>
                    <a:pt x="0" y="16755"/>
                    <a:pt x="2402" y="10955"/>
                    <a:pt x="6679" y="6679"/>
                  </a:cubicBezTo>
                  <a:cubicBezTo>
                    <a:pt x="10955" y="2402"/>
                    <a:pt x="16755" y="0"/>
                    <a:pt x="22803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2235460" cy="450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60933" y="4366080"/>
            <a:ext cx="8192519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 i="true" spc="-43">
                <a:solidFill>
                  <a:srgbClr val="F2F1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Top Tier:</a:t>
            </a:r>
            <a:r>
              <a:rPr lang="en-US" sz="2199" i="true" spc="-43">
                <a:solidFill>
                  <a:srgbClr val="F2F1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Boosting and Ensemble methods provided the highest accuracy.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0933" y="8245258"/>
            <a:ext cx="8192519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 i="true" spc="-43">
                <a:solidFill>
                  <a:srgbClr val="F2F1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Baseline: </a:t>
            </a:r>
            <a:r>
              <a:rPr lang="en-US" sz="2199" i="true" spc="-43">
                <a:solidFill>
                  <a:srgbClr val="F2F1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Simple models provided a good starting point but were outperformed.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60933" y="6289579"/>
            <a:ext cx="883150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 i="true" spc="-43">
                <a:solidFill>
                  <a:srgbClr val="F2F1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Mid Tier: </a:t>
            </a:r>
            <a:r>
              <a:rPr lang="en-US" sz="2199" i="true" spc="-43">
                <a:solidFill>
                  <a:srgbClr val="F2F1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Tree-based and distance-based models were strong</a:t>
            </a:r>
          </a:p>
          <a:p>
            <a:pPr algn="l">
              <a:lnSpc>
                <a:spcPts val="2639"/>
              </a:lnSpc>
            </a:pPr>
            <a:r>
              <a:rPr lang="en-US" sz="2199" i="true" spc="-43">
                <a:solidFill>
                  <a:srgbClr val="F2F1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performers.</a:t>
            </a:r>
          </a:p>
          <a:p>
            <a:pPr algn="l">
              <a:lnSpc>
                <a:spcPts val="263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3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80560" y="2414904"/>
          <a:ext cx="10254355" cy="7447940"/>
        </p:xfrm>
        <a:graphic>
          <a:graphicData uri="http://schemas.openxmlformats.org/drawingml/2006/table">
            <a:tbl>
              <a:tblPr/>
              <a:tblGrid>
                <a:gridCol w="2225051"/>
                <a:gridCol w="1895253"/>
                <a:gridCol w="1919023"/>
                <a:gridCol w="2249220"/>
                <a:gridCol w="1965808"/>
              </a:tblGrid>
              <a:tr h="122852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b="true" sz="2399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332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332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332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332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F1-Score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3328"/>
                    </a:solidFill>
                  </a:tcPr>
                </a:tc>
              </a:tr>
              <a:tr h="122852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CatBoost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89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0.8852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89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0.8858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89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0.8852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89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0.8853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891"/>
                    </a:solidFill>
                  </a:tcPr>
                </a:tc>
              </a:tr>
              <a:tr h="122852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LightGBM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89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0.8852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89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0.8858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89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0.8852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89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0.8853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891"/>
                    </a:solidFill>
                  </a:tcPr>
                </a:tc>
              </a:tr>
              <a:tr h="12669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Random Forest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89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0.8689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89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0.8709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89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0.8689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89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0.8689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891"/>
                    </a:solidFill>
                  </a:tcPr>
                </a:tc>
              </a:tr>
              <a:tr h="122852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KNN (K=23)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89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0.8689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89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0.8761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89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0.8689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89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0.8687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891"/>
                    </a:solidFill>
                  </a:tcPr>
                </a:tc>
              </a:tr>
              <a:tr h="12669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SVM (RBF Kernel)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89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0.8525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89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0.8531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89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0.8525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89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0.8525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891"/>
                    </a:solidFill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231739" y="539368"/>
            <a:ext cx="10672104" cy="1641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b="true" sz="7430" spc="-460">
                <a:solidFill>
                  <a:srgbClr val="FF3131"/>
                </a:solidFill>
                <a:latin typeface="Telegraf Bold"/>
                <a:ea typeface="Telegraf Bold"/>
                <a:cs typeface="Telegraf Bold"/>
                <a:sym typeface="Telegraf Bold"/>
              </a:rPr>
              <a:t>MODEL PERFORMANCE DEEP DIVE (TABLE)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915191" y="2889454"/>
            <a:ext cx="7236336" cy="1687302"/>
            <a:chOff x="0" y="0"/>
            <a:chExt cx="1810931" cy="4222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10931" cy="422256"/>
            </a:xfrm>
            <a:custGeom>
              <a:avLst/>
              <a:gdLst/>
              <a:ahLst/>
              <a:cxnLst/>
              <a:rect r="r" b="b" t="t" l="l"/>
              <a:pathLst>
                <a:path h="422256" w="1810931">
                  <a:moveTo>
                    <a:pt x="26747" y="0"/>
                  </a:moveTo>
                  <a:lnTo>
                    <a:pt x="1784185" y="0"/>
                  </a:lnTo>
                  <a:cubicBezTo>
                    <a:pt x="1791278" y="0"/>
                    <a:pt x="1798081" y="2818"/>
                    <a:pt x="1803097" y="7834"/>
                  </a:cubicBezTo>
                  <a:cubicBezTo>
                    <a:pt x="1808113" y="12850"/>
                    <a:pt x="1810931" y="19653"/>
                    <a:pt x="1810931" y="26747"/>
                  </a:cubicBezTo>
                  <a:lnTo>
                    <a:pt x="1810931" y="395509"/>
                  </a:lnTo>
                  <a:cubicBezTo>
                    <a:pt x="1810931" y="410281"/>
                    <a:pt x="1798956" y="422256"/>
                    <a:pt x="1784185" y="422256"/>
                  </a:cubicBezTo>
                  <a:lnTo>
                    <a:pt x="26747" y="422256"/>
                  </a:lnTo>
                  <a:cubicBezTo>
                    <a:pt x="19653" y="422256"/>
                    <a:pt x="12850" y="419438"/>
                    <a:pt x="7834" y="414422"/>
                  </a:cubicBezTo>
                  <a:cubicBezTo>
                    <a:pt x="2818" y="409406"/>
                    <a:pt x="0" y="402603"/>
                    <a:pt x="0" y="395509"/>
                  </a:cubicBezTo>
                  <a:lnTo>
                    <a:pt x="0" y="26747"/>
                  </a:lnTo>
                  <a:cubicBezTo>
                    <a:pt x="0" y="19653"/>
                    <a:pt x="2818" y="12850"/>
                    <a:pt x="7834" y="7834"/>
                  </a:cubicBezTo>
                  <a:cubicBezTo>
                    <a:pt x="12850" y="2818"/>
                    <a:pt x="19653" y="0"/>
                    <a:pt x="26747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810931" cy="450831"/>
            </a:xfrm>
            <a:prstGeom prst="rect">
              <a:avLst/>
            </a:prstGeom>
          </p:spPr>
          <p:txBody>
            <a:bodyPr anchor="ctr" rtlCol="false" tIns="53463" lIns="53463" bIns="53463" rIns="53463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03843" y="4917441"/>
            <a:ext cx="7236336" cy="1017470"/>
            <a:chOff x="0" y="0"/>
            <a:chExt cx="1810931" cy="2546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10931" cy="254627"/>
            </a:xfrm>
            <a:custGeom>
              <a:avLst/>
              <a:gdLst/>
              <a:ahLst/>
              <a:cxnLst/>
              <a:rect r="r" b="b" t="t" l="l"/>
              <a:pathLst>
                <a:path h="254627" w="1810931">
                  <a:moveTo>
                    <a:pt x="26747" y="0"/>
                  </a:moveTo>
                  <a:lnTo>
                    <a:pt x="1784185" y="0"/>
                  </a:lnTo>
                  <a:cubicBezTo>
                    <a:pt x="1791278" y="0"/>
                    <a:pt x="1798081" y="2818"/>
                    <a:pt x="1803097" y="7834"/>
                  </a:cubicBezTo>
                  <a:cubicBezTo>
                    <a:pt x="1808113" y="12850"/>
                    <a:pt x="1810931" y="19653"/>
                    <a:pt x="1810931" y="26747"/>
                  </a:cubicBezTo>
                  <a:lnTo>
                    <a:pt x="1810931" y="227880"/>
                  </a:lnTo>
                  <a:cubicBezTo>
                    <a:pt x="1810931" y="242652"/>
                    <a:pt x="1798956" y="254627"/>
                    <a:pt x="1784185" y="254627"/>
                  </a:cubicBezTo>
                  <a:lnTo>
                    <a:pt x="26747" y="254627"/>
                  </a:lnTo>
                  <a:cubicBezTo>
                    <a:pt x="19653" y="254627"/>
                    <a:pt x="12850" y="251809"/>
                    <a:pt x="7834" y="246793"/>
                  </a:cubicBezTo>
                  <a:cubicBezTo>
                    <a:pt x="2818" y="241777"/>
                    <a:pt x="0" y="234974"/>
                    <a:pt x="0" y="227880"/>
                  </a:cubicBezTo>
                  <a:lnTo>
                    <a:pt x="0" y="26747"/>
                  </a:lnTo>
                  <a:cubicBezTo>
                    <a:pt x="0" y="19653"/>
                    <a:pt x="2818" y="12850"/>
                    <a:pt x="7834" y="7834"/>
                  </a:cubicBezTo>
                  <a:cubicBezTo>
                    <a:pt x="12850" y="2818"/>
                    <a:pt x="19653" y="0"/>
                    <a:pt x="26747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810931" cy="283202"/>
            </a:xfrm>
            <a:prstGeom prst="rect">
              <a:avLst/>
            </a:prstGeom>
          </p:spPr>
          <p:txBody>
            <a:bodyPr anchor="ctr" rtlCol="false" tIns="53463" lIns="53463" bIns="53463" rIns="53463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03843" y="6275739"/>
            <a:ext cx="7224989" cy="1017447"/>
            <a:chOff x="0" y="0"/>
            <a:chExt cx="1808091" cy="2546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08091" cy="254621"/>
            </a:xfrm>
            <a:custGeom>
              <a:avLst/>
              <a:gdLst/>
              <a:ahLst/>
              <a:cxnLst/>
              <a:rect r="r" b="b" t="t" l="l"/>
              <a:pathLst>
                <a:path h="254621" w="1808091">
                  <a:moveTo>
                    <a:pt x="26789" y="0"/>
                  </a:moveTo>
                  <a:lnTo>
                    <a:pt x="1781303" y="0"/>
                  </a:lnTo>
                  <a:cubicBezTo>
                    <a:pt x="1788407" y="0"/>
                    <a:pt x="1795221" y="2822"/>
                    <a:pt x="1800245" y="7846"/>
                  </a:cubicBezTo>
                  <a:cubicBezTo>
                    <a:pt x="1805269" y="12870"/>
                    <a:pt x="1808091" y="19684"/>
                    <a:pt x="1808091" y="26789"/>
                  </a:cubicBezTo>
                  <a:lnTo>
                    <a:pt x="1808091" y="227833"/>
                  </a:lnTo>
                  <a:cubicBezTo>
                    <a:pt x="1808091" y="242628"/>
                    <a:pt x="1796098" y="254621"/>
                    <a:pt x="1781303" y="254621"/>
                  </a:cubicBezTo>
                  <a:lnTo>
                    <a:pt x="26789" y="254621"/>
                  </a:lnTo>
                  <a:cubicBezTo>
                    <a:pt x="11994" y="254621"/>
                    <a:pt x="0" y="242628"/>
                    <a:pt x="0" y="227833"/>
                  </a:cubicBezTo>
                  <a:lnTo>
                    <a:pt x="0" y="26789"/>
                  </a:lnTo>
                  <a:cubicBezTo>
                    <a:pt x="0" y="11994"/>
                    <a:pt x="11994" y="0"/>
                    <a:pt x="26789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808091" cy="283196"/>
            </a:xfrm>
            <a:prstGeom prst="rect">
              <a:avLst/>
            </a:prstGeom>
          </p:spPr>
          <p:txBody>
            <a:bodyPr anchor="ctr" rtlCol="false" tIns="53463" lIns="53463" bIns="53463" rIns="53463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15191" y="7634013"/>
            <a:ext cx="7247684" cy="1687302"/>
            <a:chOff x="0" y="0"/>
            <a:chExt cx="1813771" cy="4222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13771" cy="422256"/>
            </a:xfrm>
            <a:custGeom>
              <a:avLst/>
              <a:gdLst/>
              <a:ahLst/>
              <a:cxnLst/>
              <a:rect r="r" b="b" t="t" l="l"/>
              <a:pathLst>
                <a:path h="422256" w="1813771">
                  <a:moveTo>
                    <a:pt x="26705" y="0"/>
                  </a:moveTo>
                  <a:lnTo>
                    <a:pt x="1787066" y="0"/>
                  </a:lnTo>
                  <a:cubicBezTo>
                    <a:pt x="1801815" y="0"/>
                    <a:pt x="1813771" y="11956"/>
                    <a:pt x="1813771" y="26705"/>
                  </a:cubicBezTo>
                  <a:lnTo>
                    <a:pt x="1813771" y="395551"/>
                  </a:lnTo>
                  <a:cubicBezTo>
                    <a:pt x="1813771" y="402634"/>
                    <a:pt x="1810957" y="409426"/>
                    <a:pt x="1805949" y="414434"/>
                  </a:cubicBezTo>
                  <a:cubicBezTo>
                    <a:pt x="1800941" y="419443"/>
                    <a:pt x="1794149" y="422256"/>
                    <a:pt x="1787066" y="422256"/>
                  </a:cubicBezTo>
                  <a:lnTo>
                    <a:pt x="26705" y="422256"/>
                  </a:lnTo>
                  <a:cubicBezTo>
                    <a:pt x="19622" y="422256"/>
                    <a:pt x="12830" y="419443"/>
                    <a:pt x="7822" y="414434"/>
                  </a:cubicBezTo>
                  <a:cubicBezTo>
                    <a:pt x="2814" y="409426"/>
                    <a:pt x="0" y="402634"/>
                    <a:pt x="0" y="395551"/>
                  </a:cubicBezTo>
                  <a:lnTo>
                    <a:pt x="0" y="26705"/>
                  </a:lnTo>
                  <a:cubicBezTo>
                    <a:pt x="0" y="19622"/>
                    <a:pt x="2814" y="12830"/>
                    <a:pt x="7822" y="7822"/>
                  </a:cubicBezTo>
                  <a:cubicBezTo>
                    <a:pt x="12830" y="2814"/>
                    <a:pt x="19622" y="0"/>
                    <a:pt x="26705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813771" cy="450831"/>
            </a:xfrm>
            <a:prstGeom prst="rect">
              <a:avLst/>
            </a:prstGeom>
          </p:spPr>
          <p:txBody>
            <a:bodyPr anchor="ctr" rtlCol="false" tIns="53463" lIns="53463" bIns="53463" rIns="53463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1009025" y="3107912"/>
            <a:ext cx="7060015" cy="1212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  <a:spcBef>
                <a:spcPct val="0"/>
              </a:spcBef>
            </a:pPr>
            <a:r>
              <a:rPr lang="en-US" b="true" sz="2315" i="true" spc="-46">
                <a:solidFill>
                  <a:srgbClr val="F2F1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Key Insight: </a:t>
            </a:r>
            <a:r>
              <a:rPr lang="en-US" sz="2315" i="true" spc="-46">
                <a:solidFill>
                  <a:srgbClr val="F2F1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The F1-Score (a balance of Precision and Recall) is often the best metric for medical data.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09025" y="5208369"/>
            <a:ext cx="7060015" cy="390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  <a:spcBef>
                <a:spcPct val="0"/>
              </a:spcBef>
            </a:pPr>
            <a:r>
              <a:rPr lang="en-US" b="true" sz="2315" i="true" spc="-46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Best F1-Score:</a:t>
            </a:r>
            <a:r>
              <a:rPr lang="en-US" sz="2315" spc="-4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315" i="true" spc="-46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CatBoost and LightGBM (~0.885)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97677" y="6570268"/>
            <a:ext cx="7060015" cy="390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  <a:spcBef>
                <a:spcPct val="0"/>
              </a:spcBef>
            </a:pPr>
            <a:r>
              <a:rPr lang="en-US" b="true" sz="2315" i="true" spc="-46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Best Recall: </a:t>
            </a:r>
            <a:r>
              <a:rPr lang="en-US" sz="2315" i="true" spc="-46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Naive Bayes (Warning: low precision)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09025" y="7852471"/>
            <a:ext cx="7060015" cy="1212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  <a:spcBef>
                <a:spcPct val="0"/>
              </a:spcBef>
            </a:pPr>
            <a:r>
              <a:rPr lang="en-US" b="true" sz="2315" i="true" spc="-46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Best Overall:</a:t>
            </a:r>
            <a:r>
              <a:rPr lang="en-US" sz="2315" spc="-4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315" i="true" spc="-46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CatBoost, LightGBM, and Random Forest show the most balanced and highest-performing metrics.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49453" y="2264815"/>
            <a:ext cx="8371443" cy="6436690"/>
            <a:chOff x="0" y="0"/>
            <a:chExt cx="2204824" cy="16952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04824" cy="1695260"/>
            </a:xfrm>
            <a:custGeom>
              <a:avLst/>
              <a:gdLst/>
              <a:ahLst/>
              <a:cxnLst/>
              <a:rect r="r" b="b" t="t" l="l"/>
              <a:pathLst>
                <a:path h="1695260" w="2204824">
                  <a:moveTo>
                    <a:pt x="23120" y="0"/>
                  </a:moveTo>
                  <a:lnTo>
                    <a:pt x="2181704" y="0"/>
                  </a:lnTo>
                  <a:cubicBezTo>
                    <a:pt x="2194473" y="0"/>
                    <a:pt x="2204824" y="10351"/>
                    <a:pt x="2204824" y="23120"/>
                  </a:cubicBezTo>
                  <a:lnTo>
                    <a:pt x="2204824" y="1672140"/>
                  </a:lnTo>
                  <a:cubicBezTo>
                    <a:pt x="2204824" y="1678272"/>
                    <a:pt x="2202388" y="1684152"/>
                    <a:pt x="2198053" y="1688488"/>
                  </a:cubicBezTo>
                  <a:cubicBezTo>
                    <a:pt x="2193717" y="1692824"/>
                    <a:pt x="2187836" y="1695260"/>
                    <a:pt x="2181704" y="1695260"/>
                  </a:cubicBezTo>
                  <a:lnTo>
                    <a:pt x="23120" y="1695260"/>
                  </a:lnTo>
                  <a:cubicBezTo>
                    <a:pt x="10351" y="1695260"/>
                    <a:pt x="0" y="1684909"/>
                    <a:pt x="0" y="1672140"/>
                  </a:cubicBezTo>
                  <a:lnTo>
                    <a:pt x="0" y="23120"/>
                  </a:lnTo>
                  <a:cubicBezTo>
                    <a:pt x="0" y="16988"/>
                    <a:pt x="2436" y="11108"/>
                    <a:pt x="6772" y="6772"/>
                  </a:cubicBezTo>
                  <a:cubicBezTo>
                    <a:pt x="11108" y="2436"/>
                    <a:pt x="16988" y="0"/>
                    <a:pt x="23120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204824" cy="17238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873495" y="2421119"/>
            <a:ext cx="7994879" cy="6033887"/>
            <a:chOff x="0" y="0"/>
            <a:chExt cx="1140826" cy="8610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0826" cy="861003"/>
            </a:xfrm>
            <a:custGeom>
              <a:avLst/>
              <a:gdLst/>
              <a:ahLst/>
              <a:cxnLst/>
              <a:rect r="r" b="b" t="t" l="l"/>
              <a:pathLst>
                <a:path h="861003" w="1140826">
                  <a:moveTo>
                    <a:pt x="24209" y="0"/>
                  </a:moveTo>
                  <a:lnTo>
                    <a:pt x="1116617" y="0"/>
                  </a:lnTo>
                  <a:cubicBezTo>
                    <a:pt x="1123038" y="0"/>
                    <a:pt x="1129195" y="2551"/>
                    <a:pt x="1133735" y="7091"/>
                  </a:cubicBezTo>
                  <a:cubicBezTo>
                    <a:pt x="1138275" y="11631"/>
                    <a:pt x="1140826" y="17788"/>
                    <a:pt x="1140826" y="24209"/>
                  </a:cubicBezTo>
                  <a:lnTo>
                    <a:pt x="1140826" y="836794"/>
                  </a:lnTo>
                  <a:cubicBezTo>
                    <a:pt x="1140826" y="843215"/>
                    <a:pt x="1138275" y="849372"/>
                    <a:pt x="1133735" y="853912"/>
                  </a:cubicBezTo>
                  <a:cubicBezTo>
                    <a:pt x="1129195" y="858452"/>
                    <a:pt x="1123038" y="861003"/>
                    <a:pt x="1116617" y="861003"/>
                  </a:cubicBezTo>
                  <a:lnTo>
                    <a:pt x="24209" y="861003"/>
                  </a:lnTo>
                  <a:cubicBezTo>
                    <a:pt x="17788" y="861003"/>
                    <a:pt x="11631" y="858452"/>
                    <a:pt x="7091" y="853912"/>
                  </a:cubicBezTo>
                  <a:cubicBezTo>
                    <a:pt x="2551" y="849372"/>
                    <a:pt x="0" y="843215"/>
                    <a:pt x="0" y="836794"/>
                  </a:cubicBezTo>
                  <a:lnTo>
                    <a:pt x="0" y="24209"/>
                  </a:lnTo>
                  <a:cubicBezTo>
                    <a:pt x="0" y="17788"/>
                    <a:pt x="2551" y="11631"/>
                    <a:pt x="7091" y="7091"/>
                  </a:cubicBezTo>
                  <a:cubicBezTo>
                    <a:pt x="11631" y="2551"/>
                    <a:pt x="17788" y="0"/>
                    <a:pt x="2420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343" r="0" b="-134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2696" y="2264815"/>
            <a:ext cx="7236336" cy="1430127"/>
            <a:chOff x="0" y="0"/>
            <a:chExt cx="1810931" cy="3578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10931" cy="357897"/>
            </a:xfrm>
            <a:custGeom>
              <a:avLst/>
              <a:gdLst/>
              <a:ahLst/>
              <a:cxnLst/>
              <a:rect r="r" b="b" t="t" l="l"/>
              <a:pathLst>
                <a:path h="357897" w="1810931">
                  <a:moveTo>
                    <a:pt x="26747" y="0"/>
                  </a:moveTo>
                  <a:lnTo>
                    <a:pt x="1784185" y="0"/>
                  </a:lnTo>
                  <a:cubicBezTo>
                    <a:pt x="1791278" y="0"/>
                    <a:pt x="1798081" y="2818"/>
                    <a:pt x="1803097" y="7834"/>
                  </a:cubicBezTo>
                  <a:cubicBezTo>
                    <a:pt x="1808113" y="12850"/>
                    <a:pt x="1810931" y="19653"/>
                    <a:pt x="1810931" y="26747"/>
                  </a:cubicBezTo>
                  <a:lnTo>
                    <a:pt x="1810931" y="331150"/>
                  </a:lnTo>
                  <a:cubicBezTo>
                    <a:pt x="1810931" y="338244"/>
                    <a:pt x="1808113" y="345047"/>
                    <a:pt x="1803097" y="350063"/>
                  </a:cubicBezTo>
                  <a:cubicBezTo>
                    <a:pt x="1798081" y="355079"/>
                    <a:pt x="1791278" y="357897"/>
                    <a:pt x="1784185" y="357897"/>
                  </a:cubicBezTo>
                  <a:lnTo>
                    <a:pt x="26747" y="357897"/>
                  </a:lnTo>
                  <a:cubicBezTo>
                    <a:pt x="11975" y="357897"/>
                    <a:pt x="0" y="345922"/>
                    <a:pt x="0" y="331150"/>
                  </a:cubicBezTo>
                  <a:lnTo>
                    <a:pt x="0" y="26747"/>
                  </a:lnTo>
                  <a:cubicBezTo>
                    <a:pt x="0" y="19653"/>
                    <a:pt x="2818" y="12850"/>
                    <a:pt x="7834" y="7834"/>
                  </a:cubicBezTo>
                  <a:cubicBezTo>
                    <a:pt x="12850" y="2818"/>
                    <a:pt x="19653" y="0"/>
                    <a:pt x="26747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810931" cy="386472"/>
            </a:xfrm>
            <a:prstGeom prst="rect">
              <a:avLst/>
            </a:prstGeom>
          </p:spPr>
          <p:txBody>
            <a:bodyPr anchor="ctr" rtlCol="false" tIns="53463" lIns="53463" bIns="53463" rIns="53463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4028317"/>
            <a:ext cx="7236336" cy="1284170"/>
            <a:chOff x="0" y="0"/>
            <a:chExt cx="1810931" cy="3213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10931" cy="321370"/>
            </a:xfrm>
            <a:custGeom>
              <a:avLst/>
              <a:gdLst/>
              <a:ahLst/>
              <a:cxnLst/>
              <a:rect r="r" b="b" t="t" l="l"/>
              <a:pathLst>
                <a:path h="321370" w="1810931">
                  <a:moveTo>
                    <a:pt x="26747" y="0"/>
                  </a:moveTo>
                  <a:lnTo>
                    <a:pt x="1784185" y="0"/>
                  </a:lnTo>
                  <a:cubicBezTo>
                    <a:pt x="1791278" y="0"/>
                    <a:pt x="1798081" y="2818"/>
                    <a:pt x="1803097" y="7834"/>
                  </a:cubicBezTo>
                  <a:cubicBezTo>
                    <a:pt x="1808113" y="12850"/>
                    <a:pt x="1810931" y="19653"/>
                    <a:pt x="1810931" y="26747"/>
                  </a:cubicBezTo>
                  <a:lnTo>
                    <a:pt x="1810931" y="294624"/>
                  </a:lnTo>
                  <a:cubicBezTo>
                    <a:pt x="1810931" y="309395"/>
                    <a:pt x="1798956" y="321370"/>
                    <a:pt x="1784185" y="321370"/>
                  </a:cubicBezTo>
                  <a:lnTo>
                    <a:pt x="26747" y="321370"/>
                  </a:lnTo>
                  <a:cubicBezTo>
                    <a:pt x="19653" y="321370"/>
                    <a:pt x="12850" y="318552"/>
                    <a:pt x="7834" y="313536"/>
                  </a:cubicBezTo>
                  <a:cubicBezTo>
                    <a:pt x="2818" y="308520"/>
                    <a:pt x="0" y="301717"/>
                    <a:pt x="0" y="294624"/>
                  </a:cubicBezTo>
                  <a:lnTo>
                    <a:pt x="0" y="26747"/>
                  </a:lnTo>
                  <a:cubicBezTo>
                    <a:pt x="0" y="19653"/>
                    <a:pt x="2818" y="12850"/>
                    <a:pt x="7834" y="7834"/>
                  </a:cubicBezTo>
                  <a:cubicBezTo>
                    <a:pt x="12850" y="2818"/>
                    <a:pt x="19653" y="0"/>
                    <a:pt x="26747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810931" cy="349945"/>
            </a:xfrm>
            <a:prstGeom prst="rect">
              <a:avLst/>
            </a:prstGeom>
          </p:spPr>
          <p:txBody>
            <a:bodyPr anchor="ctr" rtlCol="false" tIns="53463" lIns="53463" bIns="53463" rIns="53463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5653314"/>
            <a:ext cx="7224989" cy="1358274"/>
            <a:chOff x="0" y="0"/>
            <a:chExt cx="1808091" cy="3399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08091" cy="339915"/>
            </a:xfrm>
            <a:custGeom>
              <a:avLst/>
              <a:gdLst/>
              <a:ahLst/>
              <a:cxnLst/>
              <a:rect r="r" b="b" t="t" l="l"/>
              <a:pathLst>
                <a:path h="339915" w="1808091">
                  <a:moveTo>
                    <a:pt x="26789" y="0"/>
                  </a:moveTo>
                  <a:lnTo>
                    <a:pt x="1781303" y="0"/>
                  </a:lnTo>
                  <a:cubicBezTo>
                    <a:pt x="1788407" y="0"/>
                    <a:pt x="1795221" y="2822"/>
                    <a:pt x="1800245" y="7846"/>
                  </a:cubicBezTo>
                  <a:cubicBezTo>
                    <a:pt x="1805269" y="12870"/>
                    <a:pt x="1808091" y="19684"/>
                    <a:pt x="1808091" y="26789"/>
                  </a:cubicBezTo>
                  <a:lnTo>
                    <a:pt x="1808091" y="313126"/>
                  </a:lnTo>
                  <a:cubicBezTo>
                    <a:pt x="1808091" y="327921"/>
                    <a:pt x="1796098" y="339915"/>
                    <a:pt x="1781303" y="339915"/>
                  </a:cubicBezTo>
                  <a:lnTo>
                    <a:pt x="26789" y="339915"/>
                  </a:lnTo>
                  <a:cubicBezTo>
                    <a:pt x="11994" y="339915"/>
                    <a:pt x="0" y="327921"/>
                    <a:pt x="0" y="313126"/>
                  </a:cubicBezTo>
                  <a:lnTo>
                    <a:pt x="0" y="26789"/>
                  </a:lnTo>
                  <a:cubicBezTo>
                    <a:pt x="0" y="11994"/>
                    <a:pt x="11994" y="0"/>
                    <a:pt x="26789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808091" cy="368490"/>
            </a:xfrm>
            <a:prstGeom prst="rect">
              <a:avLst/>
            </a:prstGeom>
          </p:spPr>
          <p:txBody>
            <a:bodyPr anchor="ctr" rtlCol="false" tIns="53463" lIns="53463" bIns="53463" rIns="53463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5674" y="7409858"/>
            <a:ext cx="7247684" cy="1291646"/>
            <a:chOff x="0" y="0"/>
            <a:chExt cx="1813771" cy="32324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13771" cy="323241"/>
            </a:xfrm>
            <a:custGeom>
              <a:avLst/>
              <a:gdLst/>
              <a:ahLst/>
              <a:cxnLst/>
              <a:rect r="r" b="b" t="t" l="l"/>
              <a:pathLst>
                <a:path h="323241" w="1813771">
                  <a:moveTo>
                    <a:pt x="26705" y="0"/>
                  </a:moveTo>
                  <a:lnTo>
                    <a:pt x="1787066" y="0"/>
                  </a:lnTo>
                  <a:cubicBezTo>
                    <a:pt x="1801815" y="0"/>
                    <a:pt x="1813771" y="11956"/>
                    <a:pt x="1813771" y="26705"/>
                  </a:cubicBezTo>
                  <a:lnTo>
                    <a:pt x="1813771" y="296536"/>
                  </a:lnTo>
                  <a:cubicBezTo>
                    <a:pt x="1813771" y="303619"/>
                    <a:pt x="1810957" y="310411"/>
                    <a:pt x="1805949" y="315420"/>
                  </a:cubicBezTo>
                  <a:cubicBezTo>
                    <a:pt x="1800941" y="320428"/>
                    <a:pt x="1794149" y="323241"/>
                    <a:pt x="1787066" y="323241"/>
                  </a:cubicBezTo>
                  <a:lnTo>
                    <a:pt x="26705" y="323241"/>
                  </a:lnTo>
                  <a:cubicBezTo>
                    <a:pt x="19622" y="323241"/>
                    <a:pt x="12830" y="320428"/>
                    <a:pt x="7822" y="315420"/>
                  </a:cubicBezTo>
                  <a:cubicBezTo>
                    <a:pt x="2814" y="310411"/>
                    <a:pt x="0" y="303619"/>
                    <a:pt x="0" y="296536"/>
                  </a:cubicBezTo>
                  <a:lnTo>
                    <a:pt x="0" y="26705"/>
                  </a:lnTo>
                  <a:cubicBezTo>
                    <a:pt x="0" y="19622"/>
                    <a:pt x="2814" y="12830"/>
                    <a:pt x="7822" y="7822"/>
                  </a:cubicBezTo>
                  <a:cubicBezTo>
                    <a:pt x="12830" y="2814"/>
                    <a:pt x="19622" y="0"/>
                    <a:pt x="26705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813771" cy="351816"/>
            </a:xfrm>
            <a:prstGeom prst="rect">
              <a:avLst/>
            </a:prstGeom>
          </p:spPr>
          <p:txBody>
            <a:bodyPr anchor="ctr" rtlCol="false" tIns="53463" lIns="53463" bIns="53463" rIns="53463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72123" y="452879"/>
            <a:ext cx="10630307" cy="148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8"/>
              </a:lnSpc>
            </a:pPr>
            <a:r>
              <a:rPr lang="en-US" b="true" sz="6716" spc="-416">
                <a:solidFill>
                  <a:srgbClr val="FF3131"/>
                </a:solidFill>
                <a:latin typeface="Telegraf Bold"/>
                <a:ea typeface="Telegraf Bold"/>
                <a:cs typeface="Telegraf Bold"/>
                <a:sym typeface="Telegraf Bold"/>
              </a:rPr>
              <a:t>BEST MODEL : FEATURE IMPORTANCE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5182" y="2485487"/>
            <a:ext cx="7060015" cy="1208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  <a:spcBef>
                <a:spcPct val="0"/>
              </a:spcBef>
            </a:pPr>
            <a:r>
              <a:rPr lang="en-US" b="true" sz="2315" i="true" spc="-46">
                <a:solidFill>
                  <a:srgbClr val="F2F1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Insight: </a:t>
            </a:r>
            <a:r>
              <a:rPr lang="en-US" sz="2315" i="true" spc="-46">
                <a:solidFill>
                  <a:srgbClr val="F2F1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We can look inside our best models to see why they make their predictions.</a:t>
            </a:r>
          </a:p>
          <a:p>
            <a:pPr algn="l">
              <a:lnSpc>
                <a:spcPts val="3241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05182" y="4230047"/>
            <a:ext cx="7060015" cy="1208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  <a:spcBef>
                <a:spcPct val="0"/>
              </a:spcBef>
            </a:pPr>
            <a:r>
              <a:rPr lang="en-US" sz="2315" i="true" spc="-46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Th</a:t>
            </a:r>
            <a:r>
              <a:rPr lang="en-US" sz="2315" i="true" spc="-46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 feature importance plot from XGBoost (similar to CatBoost/RF) confirms our EDA.</a:t>
            </a:r>
          </a:p>
          <a:p>
            <a:pPr algn="l">
              <a:lnSpc>
                <a:spcPts val="3241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10856" y="5868467"/>
            <a:ext cx="7060015" cy="1208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  <a:spcBef>
                <a:spcPct val="0"/>
              </a:spcBef>
            </a:pPr>
            <a:r>
              <a:rPr lang="en-US" sz="2315" i="true" spc="-46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Th</a:t>
            </a:r>
            <a:r>
              <a:rPr lang="en-US" sz="2315" i="true" spc="-46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 most important features are thal_2, ca_0, cp_0, and oldpeak.</a:t>
            </a:r>
          </a:p>
          <a:p>
            <a:pPr algn="l">
              <a:lnSpc>
                <a:spcPts val="3241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10856" y="7640709"/>
            <a:ext cx="7060015" cy="1617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  <a:spcBef>
                <a:spcPct val="0"/>
              </a:spcBef>
            </a:pPr>
            <a:r>
              <a:rPr lang="en-US" sz="2315" i="true" spc="-46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Thi</a:t>
            </a:r>
            <a:r>
              <a:rPr lang="en-US" sz="2315" i="true" spc="-46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s gives us confidence in the model's decisions, as it aligns with medical knowledge.</a:t>
            </a:r>
          </a:p>
          <a:p>
            <a:pPr algn="l">
              <a:lnSpc>
                <a:spcPts val="3241"/>
              </a:lnSpc>
              <a:spcBef>
                <a:spcPct val="0"/>
              </a:spcBef>
            </a:pPr>
          </a:p>
          <a:p>
            <a:pPr algn="l">
              <a:lnSpc>
                <a:spcPts val="324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3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6125" y="842489"/>
            <a:ext cx="12161696" cy="17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3"/>
              </a:lnSpc>
            </a:pPr>
            <a:r>
              <a:rPr lang="en-US" b="true" sz="8170" spc="-506">
                <a:solidFill>
                  <a:srgbClr val="FF3131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CONCLUSION &amp; RECOMMENDATIONS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96125" y="2930656"/>
            <a:ext cx="5889321" cy="6397788"/>
            <a:chOff x="0" y="0"/>
            <a:chExt cx="1551097" cy="16850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1097" cy="1685014"/>
            </a:xfrm>
            <a:custGeom>
              <a:avLst/>
              <a:gdLst/>
              <a:ahLst/>
              <a:cxnLst/>
              <a:rect r="r" b="b" t="t" l="l"/>
              <a:pathLst>
                <a:path h="1685014" w="1551097">
                  <a:moveTo>
                    <a:pt x="32864" y="0"/>
                  </a:moveTo>
                  <a:lnTo>
                    <a:pt x="1518233" y="0"/>
                  </a:lnTo>
                  <a:cubicBezTo>
                    <a:pt x="1526949" y="0"/>
                    <a:pt x="1535308" y="3462"/>
                    <a:pt x="1541471" y="9626"/>
                  </a:cubicBezTo>
                  <a:cubicBezTo>
                    <a:pt x="1547634" y="15789"/>
                    <a:pt x="1551097" y="24148"/>
                    <a:pt x="1551097" y="32864"/>
                  </a:cubicBezTo>
                  <a:lnTo>
                    <a:pt x="1551097" y="1652150"/>
                  </a:lnTo>
                  <a:cubicBezTo>
                    <a:pt x="1551097" y="1670300"/>
                    <a:pt x="1536383" y="1685014"/>
                    <a:pt x="1518233" y="1685014"/>
                  </a:cubicBezTo>
                  <a:lnTo>
                    <a:pt x="32864" y="1685014"/>
                  </a:lnTo>
                  <a:cubicBezTo>
                    <a:pt x="14714" y="1685014"/>
                    <a:pt x="0" y="1670300"/>
                    <a:pt x="0" y="1652150"/>
                  </a:cubicBezTo>
                  <a:lnTo>
                    <a:pt x="0" y="32864"/>
                  </a:lnTo>
                  <a:cubicBezTo>
                    <a:pt x="0" y="14714"/>
                    <a:pt x="14714" y="0"/>
                    <a:pt x="32864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551097" cy="17326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  <a:p>
              <a:pPr algn="ctr">
                <a:lnSpc>
                  <a:spcPts val="3919"/>
                </a:lnSpc>
              </a:pPr>
              <a:r>
                <a:rPr lang="en-US" sz="2799" i="true" spc="-55">
                  <a:solidFill>
                    <a:srgbClr val="FFFFFF"/>
                  </a:solidFill>
                  <a:latin typeface="Open Sauce Italics"/>
                  <a:ea typeface="Open Sauce Italics"/>
                  <a:cs typeface="Open Sauce Italics"/>
                  <a:sym typeface="Open Sauce Italics"/>
                </a:rPr>
                <a:t> </a:t>
              </a:r>
              <a:r>
                <a:rPr lang="en-US" b="true" sz="2799" i="true" spc="-55">
                  <a:solidFill>
                    <a:srgbClr val="FFFFFF"/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Conclusion: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 i="true" spc="-55">
                  <a:solidFill>
                    <a:srgbClr val="FFFFFF"/>
                  </a:solidFill>
                  <a:latin typeface="Open Sauce Italics"/>
                  <a:ea typeface="Open Sauce Italics"/>
                  <a:cs typeface="Open Sauce Italics"/>
                  <a:sym typeface="Open Sauce Italics"/>
                </a:rPr>
                <a:t>Heart disease is highly predictable from this data, with top models achieving</a:t>
              </a:r>
              <a:r>
                <a:rPr lang="en-US" b="true" sz="2799" i="true" spc="-55">
                  <a:solidFill>
                    <a:srgbClr val="FFFFFF"/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 ~88.5% accuracy.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 i="true" spc="-55">
                  <a:solidFill>
                    <a:srgbClr val="FFFFFF"/>
                  </a:solidFill>
                  <a:latin typeface="Open Sauce Italics"/>
                  <a:ea typeface="Open Sauce Italics"/>
                  <a:cs typeface="Open Sauce Italics"/>
                  <a:sym typeface="Open Sauce Italics"/>
                </a:rPr>
                <a:t>Ensemble &amp; Boosting models (CatBoost, LightGBM) are the clear winners.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 i="true" spc="-55">
                  <a:solidFill>
                    <a:srgbClr val="FFFFFF"/>
                  </a:solidFill>
                  <a:latin typeface="Open Sauce Italics"/>
                  <a:ea typeface="Open Sauce Italics"/>
                  <a:cs typeface="Open Sauce Italics"/>
                  <a:sym typeface="Open Sauce Italics"/>
                </a:rPr>
                <a:t>Feature Engineering (one-hot encoding) was critical for this success</a:t>
              </a:r>
              <a:r>
                <a:rPr lang="en-US" sz="2799" spc="-55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.</a:t>
              </a:r>
            </a:p>
            <a:p>
              <a:pPr algn="ctr">
                <a:lnSpc>
                  <a:spcPts val="391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91994" y="2860512"/>
            <a:ext cx="5474299" cy="6527698"/>
            <a:chOff x="0" y="0"/>
            <a:chExt cx="1441791" cy="17192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41791" cy="1719229"/>
            </a:xfrm>
            <a:custGeom>
              <a:avLst/>
              <a:gdLst/>
              <a:ahLst/>
              <a:cxnLst/>
              <a:rect r="r" b="b" t="t" l="l"/>
              <a:pathLst>
                <a:path h="1719229" w="1441791">
                  <a:moveTo>
                    <a:pt x="35356" y="0"/>
                  </a:moveTo>
                  <a:lnTo>
                    <a:pt x="1406435" y="0"/>
                  </a:lnTo>
                  <a:cubicBezTo>
                    <a:pt x="1425962" y="0"/>
                    <a:pt x="1441791" y="15829"/>
                    <a:pt x="1441791" y="35356"/>
                  </a:cubicBezTo>
                  <a:lnTo>
                    <a:pt x="1441791" y="1683873"/>
                  </a:lnTo>
                  <a:cubicBezTo>
                    <a:pt x="1441791" y="1703400"/>
                    <a:pt x="1425962" y="1719229"/>
                    <a:pt x="1406435" y="1719229"/>
                  </a:cubicBezTo>
                  <a:lnTo>
                    <a:pt x="35356" y="1719229"/>
                  </a:lnTo>
                  <a:cubicBezTo>
                    <a:pt x="15829" y="1719229"/>
                    <a:pt x="0" y="1703400"/>
                    <a:pt x="0" y="1683873"/>
                  </a:cubicBezTo>
                  <a:lnTo>
                    <a:pt x="0" y="35356"/>
                  </a:lnTo>
                  <a:cubicBezTo>
                    <a:pt x="0" y="15829"/>
                    <a:pt x="15829" y="0"/>
                    <a:pt x="35356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441791" cy="1785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 spc="-55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Key</a:t>
              </a:r>
              <a:r>
                <a:rPr lang="en-US" b="true" sz="2799" spc="-55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 Insight (PCA):</a:t>
              </a:r>
            </a:p>
            <a:p>
              <a:pPr algn="ctr">
                <a:lnSpc>
                  <a:spcPts val="3919"/>
                </a:lnSpc>
              </a:pPr>
              <a:r>
                <a:rPr lang="en-US" b="true" sz="2799" i="true" spc="-55">
                  <a:solidFill>
                    <a:srgbClr val="FFFFFF"/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    </a:t>
              </a:r>
              <a:r>
                <a:rPr lang="en-US" sz="2799" spc="-55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</a:t>
              </a:r>
              <a:r>
                <a:rPr lang="en-US" sz="2799" spc="-55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 PCA + Logistic model performed worse than the standard Logistic Regression (as seen in your notebook).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 spc="-55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This proves that all 22 features were valuable and dimensionality reduction was not helpful for this dataset.</a:t>
              </a:r>
            </a:p>
            <a:p>
              <a:pPr algn="ctr">
                <a:lnSpc>
                  <a:spcPts val="391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872842" y="2860512"/>
            <a:ext cx="4801479" cy="6527698"/>
            <a:chOff x="0" y="0"/>
            <a:chExt cx="1264587" cy="17192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64587" cy="1719229"/>
            </a:xfrm>
            <a:custGeom>
              <a:avLst/>
              <a:gdLst/>
              <a:ahLst/>
              <a:cxnLst/>
              <a:rect r="r" b="b" t="t" l="l"/>
              <a:pathLst>
                <a:path h="1719229" w="1264587">
                  <a:moveTo>
                    <a:pt x="40310" y="0"/>
                  </a:moveTo>
                  <a:lnTo>
                    <a:pt x="1224277" y="0"/>
                  </a:lnTo>
                  <a:cubicBezTo>
                    <a:pt x="1246540" y="0"/>
                    <a:pt x="1264587" y="18047"/>
                    <a:pt x="1264587" y="40310"/>
                  </a:cubicBezTo>
                  <a:lnTo>
                    <a:pt x="1264587" y="1678919"/>
                  </a:lnTo>
                  <a:cubicBezTo>
                    <a:pt x="1264587" y="1689610"/>
                    <a:pt x="1260340" y="1699863"/>
                    <a:pt x="1252781" y="1707423"/>
                  </a:cubicBezTo>
                  <a:cubicBezTo>
                    <a:pt x="1245221" y="1714982"/>
                    <a:pt x="1234968" y="1719229"/>
                    <a:pt x="1224277" y="1719229"/>
                  </a:cubicBezTo>
                  <a:lnTo>
                    <a:pt x="40310" y="1719229"/>
                  </a:lnTo>
                  <a:cubicBezTo>
                    <a:pt x="29619" y="1719229"/>
                    <a:pt x="19366" y="1714982"/>
                    <a:pt x="11807" y="1707423"/>
                  </a:cubicBezTo>
                  <a:cubicBezTo>
                    <a:pt x="4247" y="1699863"/>
                    <a:pt x="0" y="1689610"/>
                    <a:pt x="0" y="1678919"/>
                  </a:cubicBezTo>
                  <a:lnTo>
                    <a:pt x="0" y="40310"/>
                  </a:lnTo>
                  <a:cubicBezTo>
                    <a:pt x="0" y="29619"/>
                    <a:pt x="4247" y="19366"/>
                    <a:pt x="11807" y="11807"/>
                  </a:cubicBezTo>
                  <a:cubicBezTo>
                    <a:pt x="19366" y="4247"/>
                    <a:pt x="29619" y="0"/>
                    <a:pt x="40310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264587" cy="1785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 spc="-55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 Future</a:t>
              </a:r>
              <a:r>
                <a:rPr lang="en-US" b="true" sz="2799" spc="-55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 Work: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 spc="-55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Use GridSearchCV</a:t>
              </a:r>
              <a:r>
                <a:rPr lang="en-US" sz="2799" spc="-55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</a:t>
              </a:r>
              <a:r>
                <a:rPr lang="en-US" sz="2799" spc="-55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to</a:t>
              </a:r>
              <a:r>
                <a:rPr lang="en-US" sz="2799" spc="-55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</a:t>
              </a:r>
              <a:r>
                <a:rPr lang="en-US" sz="2799" spc="-55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fine-tune</a:t>
              </a:r>
              <a:r>
                <a:rPr lang="en-US" sz="2799" spc="-55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</a:t>
              </a:r>
              <a:r>
                <a:rPr lang="en-US" sz="2799" spc="-55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</a:t>
              </a:r>
              <a:r>
                <a:rPr lang="en-US" sz="2799" spc="-55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 top 3 models (CatBoost, LightGBM, Random Forest) for even better performance.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 spc="-55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De</a:t>
              </a:r>
              <a:r>
                <a:rPr lang="en-US" sz="2799" spc="-55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ploy the final model as a web application for practical use.</a:t>
              </a:r>
            </a:p>
            <a:p>
              <a:pPr algn="ctr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3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47813" y="4278191"/>
            <a:ext cx="7393319" cy="3338375"/>
            <a:chOff x="0" y="0"/>
            <a:chExt cx="1947212" cy="8792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7212" cy="879243"/>
            </a:xfrm>
            <a:custGeom>
              <a:avLst/>
              <a:gdLst/>
              <a:ahLst/>
              <a:cxnLst/>
              <a:rect r="r" b="b" t="t" l="l"/>
              <a:pathLst>
                <a:path h="879243" w="1947212">
                  <a:moveTo>
                    <a:pt x="26179" y="0"/>
                  </a:moveTo>
                  <a:lnTo>
                    <a:pt x="1921033" y="0"/>
                  </a:lnTo>
                  <a:cubicBezTo>
                    <a:pt x="1935491" y="0"/>
                    <a:pt x="1947212" y="11721"/>
                    <a:pt x="1947212" y="26179"/>
                  </a:cubicBezTo>
                  <a:lnTo>
                    <a:pt x="1947212" y="853064"/>
                  </a:lnTo>
                  <a:cubicBezTo>
                    <a:pt x="1947212" y="867522"/>
                    <a:pt x="1935491" y="879243"/>
                    <a:pt x="1921033" y="879243"/>
                  </a:cubicBezTo>
                  <a:lnTo>
                    <a:pt x="26179" y="879243"/>
                  </a:lnTo>
                  <a:cubicBezTo>
                    <a:pt x="11721" y="879243"/>
                    <a:pt x="0" y="867522"/>
                    <a:pt x="0" y="853064"/>
                  </a:cubicBezTo>
                  <a:lnTo>
                    <a:pt x="0" y="26179"/>
                  </a:lnTo>
                  <a:cubicBezTo>
                    <a:pt x="0" y="11721"/>
                    <a:pt x="11721" y="0"/>
                    <a:pt x="26179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947212" cy="9078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947813" y="2474903"/>
            <a:ext cx="8392375" cy="131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b="true" sz="10768" spc="-667">
                <a:solidFill>
                  <a:srgbClr val="FF3131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06873" y="4798702"/>
            <a:ext cx="7675198" cy="222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4"/>
              </a:lnSpc>
            </a:pPr>
            <a:r>
              <a:rPr lang="en-US" sz="4303" spc="-8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NAME: Aman Tiwari</a:t>
            </a:r>
          </a:p>
          <a:p>
            <a:pPr algn="ctr">
              <a:lnSpc>
                <a:spcPts val="6024"/>
              </a:lnSpc>
            </a:pPr>
            <a:r>
              <a:rPr lang="en-US" sz="4303" spc="-8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PRN: 22070521141</a:t>
            </a:r>
          </a:p>
          <a:p>
            <a:pPr algn="ctr">
              <a:lnSpc>
                <a:spcPts val="6024"/>
              </a:lnSpc>
              <a:spcBef>
                <a:spcPct val="0"/>
              </a:spcBef>
            </a:pPr>
            <a:r>
              <a:rPr lang="en-US" sz="4303" spc="-8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SEM: 7</a:t>
            </a:r>
            <a:r>
              <a:rPr lang="en-US" sz="4303" spc="-8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</a:t>
            </a:r>
            <a:r>
              <a:rPr lang="en-US" sz="4303" spc="-8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, ‘C’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DAG3kQFUcQc</dc:identifier>
  <dcterms:modified xsi:type="dcterms:W3CDTF">2011-08-01T06:04:30Z</dcterms:modified>
  <cp:revision>1</cp:revision>
  <dc:title>Red Modern Autoimmune Disease Presentation</dc:title>
</cp:coreProperties>
</file>